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88" r:id="rId39"/>
    <p:sldId id="265" r:id="rId11"/>
    <p:sldId id="281" r:id="rId32"/>
    <p:sldId id="282" r:id="rId33"/>
    <p:sldId id="283" r:id="rId34"/>
    <p:sldId id="284" r:id="rId35"/>
    <p:sldId id="285" r:id="rId36"/>
    <p:sldId id="286" r:id="rId37"/>
    <p:sldId id="266" r:id="rId12"/>
    <p:sldId id="267" r:id="rId13"/>
    <p:sldId id="268" r:id="rId14"/>
    <p:sldId id="269" r:id="rId15"/>
    <p:sldId id="270" r:id="rId16"/>
    <p:sldId id="271" r:id="rId17"/>
    <p:sldId id="272" r:id="rId18"/>
    <p:sldId id="273" r:id="rId19"/>
    <p:sldId id="274" r:id="rId20"/>
    <p:sldId id="275" r:id="rId21"/>
    <p:sldId id="276" r:id="rId22"/>
    <p:sldId id="277" r:id="rId23"/>
    <p:sldId id="287" r:id="rId38"/>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slide" Target="slides/slide20.xml"/><Relationship Id="rId15" Type="http://schemas.openxmlformats.org/officeDocument/2006/relationships/slide" Target="slides/slide21.xml"/><Relationship Id="rId16" Type="http://schemas.openxmlformats.org/officeDocument/2006/relationships/slide" Target="slides/slide22.xml"/><Relationship Id="rId17" Type="http://schemas.openxmlformats.org/officeDocument/2006/relationships/slide" Target="slides/slide23.xml"/><Relationship Id="rId18" Type="http://schemas.openxmlformats.org/officeDocument/2006/relationships/slide" Target="slides/slide24.xml"/><Relationship Id="rId19" Type="http://schemas.openxmlformats.org/officeDocument/2006/relationships/slide" Target="slides/slide25.xml"/><Relationship Id="rId20" Type="http://schemas.openxmlformats.org/officeDocument/2006/relationships/slide" Target="slides/slide26.xml"/><Relationship Id="rId21" Type="http://schemas.openxmlformats.org/officeDocument/2006/relationships/slide" Target="slides/slide27.xml"/><Relationship Id="rId22" Type="http://schemas.openxmlformats.org/officeDocument/2006/relationships/slide" Target="slides/slide28.xml"/><Relationship Id="rId23" Type="http://schemas.openxmlformats.org/officeDocument/2006/relationships/slide" Target="slides/slide29.xml"/><Relationship Id="rId24" Type="http://schemas.openxmlformats.org/officeDocument/2006/relationships/slide" Target="slides/slide31.xml"/><Relationship Id="rId25" Type="http://schemas.openxmlformats.org/officeDocument/2006/relationships/slide" Target="slides/slide32.xml"/><Relationship Id="rId26" Type="http://schemas.openxmlformats.org/officeDocument/2006/relationships/slide" Target="slides/slide33.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17.xml"/><Relationship Id="rId38" Type="http://schemas.openxmlformats.org/officeDocument/2006/relationships/slide" Target="slides/slide30.xml"/><Relationship Id="rId39"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pay for AI assistance. This makes sure it works to our standards, under our control, for the whole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is only as good as the context we give it. Right now each of us gives it different context, or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guidelines live in one Git repository, in a form the AI reads automatically. Every developer forks it once and receives every update we publish.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rule changes, the lead edits one file. The next time you sync, your AI follows the new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Think of it like an SAP support package for our AI setup. The leads ship it, you import it, and your own customizations survive.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building blocks: rules, recipes, expertise, roles, facts and formats. Leads maintain the shared parts; personal additions stay in local-* files.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apply normal engineering discipline to the AI setup: context we design once, least privilege for agents, and everything versioned and reviewed in Git.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daily tasks where the savings come from: no prompt writing, fewer review loops, less rework from invented SAP names. Add pilot numbers here if available.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mirrors our real process: design, build, verify, review, ship. The same separation of duties, with a human confirming every system write.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AI proposes; the developer decides. ATC, unit tests and code review still apply.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investment, low risk because humans stay in control, and it scales our standards to the whole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Guidelines as code, fork once and sync always, a clear structure, grounded and safe, and improvements that reach the whole team.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are plain Markdown files in .github that Copilot reads. The difference is who starts them and how long they stay active. Instructions are always on. You run prompts. The AI picks up skills when they fit. You choose an agent. That's the whole model.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Instructions are the rules. You don't call them. They attach automatically, either to every chat or to the file types they cover. This is how the project guidelines get applied without anyone remembering them.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prompt is a recipe. You start it with a slash. It's ideal for tasks we repeat: explaining an object, scaffolding a RAP BO, fixing ATC findings, checking a transport.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skill is a specialist's handbook. The AI only reads the name and description until your request matches. That's called progressive disclosure, and it keeps chats focused while lots of expertise stays available.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a colleague with a role. The tool list decides what it may do: the architect and reviewer simply don't have write tools. Handoffs chain design, build and review, just like our real process.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stack: the agent is who's working, the prompt is the task, a skill brings in specialist know-how when needed, and the instructions apply underneath all of them. When you build your own, start with a local- file and propose the good ones to the team.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investment, low risk because humans stay in control, and it scales our standards to the whole team.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you see in the VS Code explorer. Everything Copilot uses lives under .github. The .vscode settings switch the features on, and CONTRIBUTING.md explains fork and sync. Your own local- files and system-info.md stay on your machine.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2F2F2"/>
                </a:solidFil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2F2F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2" name=""/>
        <p:cNvGrpSpPr/>
        <p:nvPr/>
      </p:nvGrpSpPr>
      <p:grpSpPr>
        <a:xfrm>
          <a:off x="0" y="0"/>
          <a:ext cx="0" cy="0"/>
          <a:chOff x="0" y="0"/>
          <a:chExt cx="0" cy="0"/>
        </a:xfrm>
      </p:grpSpPr>
      <p:sp>
        <p:nvSpPr>
          <p:cNvPr id="3" name="Text 0"/>
          <p:cNvSpPr txBox="1"/>
          <p:nvPr/>
        </p:nvSpPr>
        <p:spPr>
          <a:xfrm>
            <a:off x="457200" y="1005840"/>
            <a:ext cx="8229600" cy="1554480"/>
          </a:xfrm>
          <a:prstGeom prst="rect">
            <a:avLst/>
          </a:prstGeom>
          <a:noFill/>
          <a:ln/>
        </p:spPr>
        <p:txBody>
          <a:bodyPr wrap="square" rtlCol="0" anchor="b"/>
          <a:lstStyle/>
          <a:p>
            <a:pPr algn="ctr" indent="0" marL="0">
              <a:buNone/>
            </a:pPr>
            <a:r>
              <a:rPr lang="en-US" sz="4400" b="1" dirty="0">
                <a:solidFill>
                  <a:srgbClr val="FFFFFF"/>
                </a:solidFill>
                <a:latin typeface="Calibri" pitchFamily="34" charset="0"/>
                <a:ea typeface="Calibri" pitchFamily="34" charset="-122"/>
                <a:cs typeface="Calibri" pitchFamily="34" charset="-120"/>
              </a:rPr>
              <a:t>One Shared AI Workspace for ABAP Development</a:t>
            </a:r>
            <a:endParaRPr lang="en-US" sz="5400" dirty="0"/>
          </a:p>
        </p:txBody>
      </p:sp>
      <p:sp>
        <p:nvSpPr>
          <p:cNvPr id="4" name="Text 1"/>
          <p:cNvSpPr txBox="1"/>
          <p:nvPr/>
        </p:nvSpPr>
        <p:spPr>
          <a:xfrm>
            <a:off x="457200" y="2743200"/>
            <a:ext cx="8229600" cy="822960"/>
          </a:xfrm>
          <a:prstGeom prst="rect">
            <a:avLst/>
          </a:prstGeom>
          <a:noFill/>
          <a:ln/>
        </p:spPr>
        <p:txBody>
          <a:bodyPr wrap="square" rtlCol="0" anchor="t"/>
          <a:lstStyle/>
          <a:p>
            <a:pPr algn="ctr" indent="0" marL="0">
              <a:buNone/>
            </a:pPr>
            <a:r>
              <a:rPr lang="en-US" sz="1800" dirty="0">
                <a:solidFill>
                  <a:srgbClr val="CADCFC"/>
                </a:solidFill>
                <a:latin typeface="Calibri" pitchFamily="34" charset="0"/>
                <a:ea typeface="Calibri" pitchFamily="34" charset="-122"/>
                <a:cs typeface="Calibri" pitchFamily="34" charset="-120"/>
              </a:rPr>
              <a:t>Team walkthrough: what it is, how it's organised, and how it saves time day to day</a:t>
            </a:r>
            <a:endParaRPr lang="en-US" sz="2000" dirty="0"/>
          </a:p>
        </p:txBody>
      </p:sp>
      <p:sp>
        <p:nvSpPr>
          <p:cNvPr id="5" name="Text 2"/>
          <p:cNvSpPr txBox="1"/>
          <p:nvPr/>
        </p:nvSpPr>
        <p:spPr>
          <a:xfrm>
            <a:off x="457200" y="4389120"/>
            <a:ext cx="8229600" cy="365760"/>
          </a:xfrm>
          <a:prstGeom prst="rect">
            <a:avLst/>
          </a:prstGeom>
          <a:noFill/>
          <a:ln/>
        </p:spPr>
        <p:txBody>
          <a:bodyPr wrap="square" rtlCol="0" anchor="ctr"/>
          <a:lstStyle/>
          <a:p>
            <a:pPr algn="ctr" indent="0" marL="0">
              <a:buNone/>
            </a:pPr>
            <a:r>
              <a:rPr lang="en-US" sz="1300" dirty="0">
                <a:solidFill>
                  <a:srgbClr val="F2F2F2"/>
                </a:solidFill>
                <a:latin typeface="Calibri" pitchFamily="34" charset="0"/>
                <a:ea typeface="Calibri" pitchFamily="34" charset="-122"/>
                <a:cs typeface="Calibri" pitchFamily="34" charset="-120"/>
              </a:rPr>
              <a:t>Lead Developer • ABAP Team</a:t>
            </a:r>
            <a:endParaRPr lang="en-US" sz="1300" dirty="0"/>
          </a:p>
        </p:txBody>
      </p:sp>
      <p:sp>
        <p:nvSpPr>
          <p:cNvPr id="6" name="Slide Number Placeholder 0"/>
          <p:cNvSpPr>
            <a:spLocks noGrp="1"/>
          </p:cNvSpPr>
          <p:nvPr>
            <p:ph type="sldNum" sz="quarter" idx="4294967295"/>
          </p:nvPr>
        </p:nvSpPr>
        <p:spPr>
          <a:xfrm>
            <a:off x="45720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2F2F2"/>
                </a:solidFill>
              </a:defRPr>
            </a:lvl1pPr>
          </a:lstStyle>
          <a:p>
            <a:pPr algn="l"/>
            <a:fld id="{F7021451-1387-4CA6-816F-3879F97B5CBC}" type="slidenum">
              <a:rPr b="0" lang="en-US" sz="1000">
                <a:solidFill>
                  <a:srgbClr val="8A8F98"/>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Agenda &amp; Audience</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640080" y="1097280"/>
            <a:ext cx="4114800" cy="3474720"/>
          </a:xfrm>
          <a:prstGeom prst="rect">
            <a:avLst/>
          </a:prstGeom>
          <a:noFill/>
          <a:ln/>
        </p:spPr>
        <p:txBody>
          <a:bodyPr wrap="square" rtlCol="0" anchor="t"/>
          <a:lstStyle/>
          <a:p>
            <a:pPr indent="0" marL="0">
              <a:buNone/>
            </a:pPr>
            <a:r>
              <a:rPr lang="en-US" sz="1300" dirty="0">
                <a:solidFill>
                  <a:srgbClr val="36454F"/>
                </a:solidFill>
                <a:latin typeface="Calibri" pitchFamily="34" charset="0"/>
                <a:ea typeface="Calibri" pitchFamily="34" charset="-122"/>
                <a:cs typeface="Calibri" pitchFamily="34" charset="-120"/>
              </a:rPr>
              <a:t>1. The problem we are solving</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2. The approach</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3. How guidelines are enforced</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4. Fork and sync</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5. Workspace &amp; building blocks</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6. The theory</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7. Day-to-day savings</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8. Guardrails</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9. Getting started</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10. Rollout plan and asks</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11. Summary</a:t>
            </a:r>
            <a:endParaRPr lang="en-US" sz="1300" dirty="0"/>
          </a:p>
        </p:txBody>
      </p:sp>
      <p:sp>
        <p:nvSpPr>
          <p:cNvPr id="6" name="Text 3"/>
          <p:cNvSpPr txBox="1"/>
          <p:nvPr/>
        </p:nvSpPr>
        <p:spPr>
          <a:xfrm>
            <a:off x="5029200" y="1097280"/>
            <a:ext cx="3657600" cy="3474720"/>
          </a:xfrm>
          <a:prstGeom prst="rect">
            <a:avLst/>
          </a:prstGeom>
          <a:noFill/>
          <a:ln/>
        </p:spPr>
        <p:txBody>
          <a:bodyPr wrap="square" rtlCol="0" anchor="t"/>
          <a:lstStyle/>
          <a:p>
            <a:pPr indent="0" marL="0">
              <a:buNone/>
            </a:pPr>
            <a:r>
              <a:rPr lang="en-US" sz="1200" dirty="0" b="1">
                <a:solidFill>
                  <a:srgbClr val="1E2761"/>
                </a:solidFill>
                <a:latin typeface="Calibri" pitchFamily="34" charset="0"/>
                <a:ea typeface="Calibri" pitchFamily="34" charset="-122"/>
                <a:cs typeface="Calibri" pitchFamily="34" charset="-120"/>
              </a:rPr>
              <a:t>Manager subset:</a:t>
            </a:r>
            <a:endParaRPr lang="en-US" sz="1200" dirty="0"/>
          </a:p>
          <a:p>
            <a:r>
              <a:rPr sz="1200" b="0">
                <a:solidFill>
                  <a:srgbClr val="36454F"/>
                </a:solidFill>
                <a:latin typeface="Calibri"/>
              </a:rPr>
              <a:t>Sections 1–3, 4 (diagram), 5.0, building blocks at a glance, 6.1/6.4/6.6, 7, 8, 11</a:t>
            </a:r>
          </a:p>
          <a:p>
            <a:r>
              <a:rPr sz="1200" b="0">
                <a:solidFill>
                  <a:srgbClr val="36454F"/>
                </a:solidFill>
                <a:latin typeface="Calibri"/>
              </a:rPr>
              <a:t/>
            </a:r>
          </a:p>
          <a:p>
            <a:r>
              <a:rPr sz="1200" b="1">
                <a:solidFill>
                  <a:srgbClr val="1E2761"/>
                </a:solidFill>
                <a:latin typeface="Calibri"/>
              </a:rPr>
              <a:t>Manager-only:</a:t>
            </a:r>
          </a:p>
          <a:p>
            <a:r>
              <a:rPr sz="1200" b="0">
                <a:solidFill>
                  <a:srgbClr val="36454F"/>
                </a:solidFill>
                <a:latin typeface="Calibri"/>
              </a:rPr>
              <a:t>Sections 0, 10</a:t>
            </a:r>
          </a:p>
          <a:p>
            <a:r>
              <a:rPr sz="1200" b="0">
                <a:solidFill>
                  <a:srgbClr val="36454F"/>
                </a:solidFill>
                <a:latin typeface="Calibri"/>
              </a:rPr>
              <a:t/>
            </a:r>
          </a:p>
          <a:p>
            <a:r>
              <a:rPr sz="1200" b="1">
                <a:solidFill>
                  <a:srgbClr val="1E2761"/>
                </a:solidFill>
                <a:latin typeface="Calibri"/>
              </a:rPr>
              <a:t>Developer deep-dive:</a:t>
            </a:r>
          </a:p>
          <a:p>
            <a:r>
              <a:rPr sz="1200" b="0">
                <a:solidFill>
                  <a:srgbClr val="36454F"/>
                </a:solidFill>
                <a:latin typeface="Calibri"/>
              </a:rPr>
              <a:t>Fork &amp; sync commands, building blocks explained, folder walk-through, full theory, getting started</a:t>
            </a:r>
          </a:p>
        </p:txBody>
      </p:sp>
      <p:sp>
        <p:nvSpPr>
          <p:cNvPr id="7"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7955280" y="182880"/>
            <a:ext cx="1051560" cy="320040"/>
          </a:xfrm>
          <a:prstGeom prst="roundRect">
            <a:avLst>
              <a:gd name="adj" fmla="val 28571"/>
            </a:avLst>
          </a:prstGeom>
          <a:solidFill>
            <a:srgbClr val="FF6B6B"/>
          </a:solidFill>
          <a:ln/>
        </p:spPr>
        <p:txBody>
          <a:bodyPr/>
          <a:p/>
        </p:txBody>
      </p:sp>
      <p:sp>
        <p:nvSpPr>
          <p:cNvPr id="4" name="Text 1"/>
          <p:cNvSpPr txBox="1"/>
          <p:nvPr/>
        </p:nvSpPr>
        <p:spPr>
          <a:xfrm>
            <a:off x="7955280" y="182880"/>
            <a:ext cx="105156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MANAGER ONLY</a:t>
            </a:r>
            <a:endParaRPr lang="en-US" sz="8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Executive Summary for Technical Managers</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Text 4"/>
          <p:cNvSpPr txBox="1"/>
          <p:nvPr/>
        </p:nvSpPr>
        <p:spPr>
          <a:xfrm>
            <a:off x="457200" y="1005840"/>
            <a:ext cx="8229600" cy="457200"/>
          </a:xfrm>
          <a:prstGeom prst="rect">
            <a:avLst/>
          </a:prstGeom>
          <a:noFill/>
          <a:ln/>
        </p:spPr>
        <p:txBody>
          <a:bodyPr wrap="square"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What: A shared, version-controlled setup that makes GitHub Copilot follow our project guidelines.</a:t>
            </a:r>
            <a:endParaRPr lang="en-US" sz="1400" dirty="0"/>
          </a:p>
        </p:txBody>
      </p:sp>
      <p:sp>
        <p:nvSpPr>
          <p:cNvPr id="8" name="Text 5"/>
          <p:cNvSpPr txBox="1"/>
          <p:nvPr/>
        </p:nvSpPr>
        <p:spPr>
          <a:xfrm>
            <a:off x="640080" y="1554480"/>
            <a:ext cx="7863840" cy="320040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 Consistency: Same rules enforced at generation time, not caught in review</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Clean Core: Extensibility tier order enforced, classic extensions need documented exception</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Governance: Leads merge; every change reviewed via PR, versioned and traceable</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Security: AI cannot write without explicit confirmation. Architects and reviewers are read-only</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Productivity: Reusable prompts, skills, agents for daily tasks</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Onboarding: New joiners inherit standards and know-how day one</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Knowledge: Expertise captured in repo, not in individuals</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Cost: ~10 min setup per dev. No new licences beyond Copilot and ABAP extension. [Confirm licence status]</a:t>
            </a:r>
            <a:endParaRPr lang="en-US" sz="1200" dirty="0"/>
          </a:p>
        </p:txBody>
      </p:sp>
      <p:sp>
        <p:nvSpPr>
          <p:cNvPr id="9"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The Problem We Are Solving</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Text 4"/>
          <p:cNvSpPr txBox="1"/>
          <p:nvPr/>
        </p:nvSpPr>
        <p:spPr>
          <a:xfrm>
            <a:off x="640080" y="1097280"/>
            <a:ext cx="7863840" cy="3474720"/>
          </a:xfrm>
          <a:prstGeom prst="rect">
            <a:avLst/>
          </a:prstGeom>
          <a:noFill/>
          <a:ln/>
        </p:spPr>
        <p:txBody>
          <a:bodyPr wrap="square" rtlCol="0" anchor="t"/>
          <a:lstStyle/>
          <a:p>
            <a:pPr indent="0" marL="0">
              <a:buNone/>
            </a:pPr>
            <a:r>
              <a:rPr lang="en-US" sz="1300" dirty="0">
                <a:solidFill>
                  <a:srgbClr val="36454F"/>
                </a:solidFill>
                <a:latin typeface="Calibri" pitchFamily="34" charset="0"/>
                <a:ea typeface="Calibri" pitchFamily="34" charset="-122"/>
                <a:cs typeface="Calibri" pitchFamily="34" charset="-120"/>
              </a:rPr>
              <a:t>Every developer uses GitHub Copilot with their own habits:</a:t>
            </a:r>
            <a:endParaRPr lang="en-US" sz="1300" dirty="0"/>
          </a:p>
          <a:p>
            <a:pPr indent="0" marL="0">
              <a:buNone/>
            </a:pP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 Everyone writes their own prompts from scratch, every time</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 AI doesn't know our project rules (ZRK_ prefix, ABAP Cloud, Clean Core)</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 Output quality depends on who asks and how well they phrase it</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 Good prompts stay on one person's laptop</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 When guidelines change, nothing tells the AI</a:t>
            </a:r>
            <a:endParaRPr lang="en-US" sz="1300" dirty="0"/>
          </a:p>
          <a:p>
            <a:pPr indent="0" marL="0">
              <a:buNone/>
            </a:pP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Result: Inconsistent code, repeated review comments, time lost re-explaining</a:t>
            </a:r>
            <a:endParaRPr lang="en-US" sz="1300" dirty="0"/>
          </a:p>
        </p:txBody>
      </p:sp>
      <p:sp>
        <p:nvSpPr>
          <p:cNvPr id="8"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The Approach in One Sentence</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Shape 4"/>
          <p:cNvSpPr/>
          <p:nvPr/>
        </p:nvSpPr>
        <p:spPr>
          <a:xfrm>
            <a:off x="457200" y="1005840"/>
            <a:ext cx="8229600" cy="777240"/>
          </a:xfrm>
          <a:prstGeom prst="rect">
            <a:avLst/>
          </a:prstGeom>
          <a:solidFill>
            <a:srgbClr val="F2F2F2"/>
          </a:solidFill>
          <a:ln w="25400">
            <a:solidFill>
              <a:srgbClr val="1E2761"/>
            </a:solidFill>
            <a:prstDash val="solid"/>
          </a:ln>
        </p:spPr>
        <p:txBody>
          <a:bodyPr/>
          <a:p/>
        </p:txBody>
      </p:sp>
      <p:sp>
        <p:nvSpPr>
          <p:cNvPr id="8" name="Text 5"/>
          <p:cNvSpPr txBox="1"/>
          <p:nvPr/>
        </p:nvSpPr>
        <p:spPr>
          <a:xfrm>
            <a:off x="640080" y="1097280"/>
            <a:ext cx="7863840" cy="594360"/>
          </a:xfrm>
          <a:prstGeom prst="rect">
            <a:avLst/>
          </a:prstGeom>
          <a:noFill/>
          <a:ln/>
        </p:spPr>
        <p:txBody>
          <a:bodyPr wrap="square" rtlCol="0" anchor="t"/>
          <a:lstStyle/>
          <a:p>
            <a:pPr indent="0" marL="0">
              <a:buNone/>
            </a:pPr>
            <a:r>
              <a:rPr lang="en-US" sz="1300" b="1" dirty="0">
                <a:solidFill>
                  <a:srgbClr val="36454F"/>
                </a:solidFill>
                <a:latin typeface="Calibri" pitchFamily="34" charset="0"/>
                <a:ea typeface="Calibri" pitchFamily="34" charset="-122"/>
                <a:cs typeface="Calibri" pitchFamily="34" charset="-120"/>
              </a:rPr>
              <a:t>The project guidelines live in one Git repository, in a form the AI reads automatically. Every developer forks it once and receives every update the leads publish.</a:t>
            </a:r>
            <a:endParaRPr lang="en-US" sz="1300" dirty="0"/>
          </a:p>
        </p:txBody>
      </p:sp>
      <p:sp>
        <p:nvSpPr>
          <p:cNvPr id="9" name="Text 6"/>
          <p:cNvSpPr txBox="1"/>
          <p:nvPr/>
        </p:nvSpPr>
        <p:spPr>
          <a:xfrm>
            <a:off x="457200" y="1965960"/>
            <a:ext cx="8229600" cy="274320"/>
          </a:xfrm>
          <a:prstGeom prst="rect">
            <a:avLst/>
          </a:prstGeom>
          <a:noFill/>
          <a:ln/>
        </p:spPr>
        <p:txBody>
          <a:bodyPr wrap="square"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What this gives the team:</a:t>
            </a:r>
            <a:endParaRPr lang="en-US" sz="1300" dirty="0"/>
          </a:p>
        </p:txBody>
      </p:sp>
      <p:sp>
        <p:nvSpPr>
          <p:cNvPr id="10" name="Text 7"/>
          <p:cNvSpPr txBox="1"/>
          <p:nvPr/>
        </p:nvSpPr>
        <p:spPr>
          <a:xfrm>
            <a:off x="640080" y="2331720"/>
            <a:ext cx="7863840" cy="228600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 Guidelines followed automatically</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Same quality for everyone</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One place to change a rule</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Updates reach everyone</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Personal freedom without drift</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Improvements flow back via PRs</a:t>
            </a:r>
            <a:endParaRPr lang="en-US" sz="1200" dirty="0"/>
          </a:p>
        </p:txBody>
      </p:sp>
      <p:sp>
        <p:nvSpPr>
          <p:cNvPr id="11"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How Guidelines Are Enforced</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Text 4"/>
          <p:cNvSpPr txBox="1"/>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Every request loads these rules:</a:t>
            </a:r>
            <a:endParaRPr lang="en-US" sz="1200" dirty="0"/>
          </a:p>
        </p:txBody>
      </p:sp>
      <p:sp>
        <p:nvSpPr>
          <p:cNvPr id="8"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6</a:t>
            </a:fld>
            <a:endParaRPr lang="en-US"/>
          </a:p>
        </p:txBody>
      </p:sp>
      <p:sp>
        <p:nvSpPr>
          <p:cNvPr id="9" name="TextBox 9"/>
          <p:cNvSpPr txBox="1"/>
          <p:nvPr/>
        </p:nvSpPr>
        <p:spPr>
          <a:xfrm>
            <a:off x="640080" y="1371600"/>
            <a:ext cx="7863840" cy="3108960"/>
          </a:xfrm>
          <a:prstGeom prst="rect">
            <a:avLst/>
          </a:prstGeom>
          <a:noFill/>
        </p:spPr>
        <p:txBody>
          <a:bodyPr wrap="square" anchor="t">
            <a:spAutoFit/>
          </a:bodyPr>
          <a:lstStyle/>
          <a:p>
            <a:pPr>
              <a:spcAft>
                <a:spcPts val="400"/>
              </a:spcAft>
            </a:pPr>
            <a:r>
              <a:rPr sz="1400" b="1">
                <a:solidFill>
                  <a:srgbClr val="1E2761"/>
                </a:solidFill>
                <a:latin typeface="Calibri"/>
              </a:rPr>
              <a:t>▪  Naming:</a:t>
            </a:r>
            <a:r>
              <a:rPr sz="1400" b="0">
                <a:solidFill>
                  <a:srgbClr val="36454F"/>
                </a:solidFill>
                <a:latin typeface="Calibri"/>
              </a:rPr>
              <a:t> ZRK_ prefix + type infix (ZRK_CL_, ZRK_I_, etc.)</a:t>
            </a:r>
          </a:p>
          <a:p>
            <a:pPr>
              <a:spcAft>
                <a:spcPts val="400"/>
              </a:spcAft>
            </a:pPr>
            <a:r>
              <a:rPr sz="1400" b="1">
                <a:solidFill>
                  <a:srgbClr val="1E2761"/>
                </a:solidFill>
                <a:latin typeface="Calibri"/>
              </a:rPr>
              <a:t>▪  ABAP Cloud first:</a:t>
            </a:r>
            <a:r>
              <a:rPr sz="1400" b="0">
                <a:solidFill>
                  <a:srgbClr val="36454F"/>
                </a:solidFill>
                <a:latin typeface="Calibri"/>
              </a:rPr>
              <a:t> CDS, managed RAP, released APIs only</a:t>
            </a:r>
          </a:p>
          <a:p>
            <a:pPr>
              <a:spcAft>
                <a:spcPts val="400"/>
              </a:spcAft>
            </a:pPr>
            <a:r>
              <a:rPr sz="1400" b="1">
                <a:solidFill>
                  <a:srgbClr val="1E2761"/>
                </a:solidFill>
                <a:latin typeface="Calibri"/>
              </a:rPr>
              <a:t>▪  Clean Core:</a:t>
            </a:r>
            <a:r>
              <a:rPr sz="1400" b="0">
                <a:solidFill>
                  <a:srgbClr val="36454F"/>
                </a:solidFill>
                <a:latin typeface="Calibri"/>
              </a:rPr>
              <a:t> No access to non-released SAP objects</a:t>
            </a:r>
          </a:p>
          <a:p>
            <a:pPr>
              <a:spcAft>
                <a:spcPts val="400"/>
              </a:spcAft>
            </a:pPr>
            <a:r>
              <a:rPr sz="1400" b="1">
                <a:solidFill>
                  <a:srgbClr val="1E2761"/>
                </a:solidFill>
                <a:latin typeface="Calibri"/>
              </a:rPr>
              <a:t>▪  Ground before generating:</a:t>
            </a:r>
            <a:r>
              <a:rPr sz="1400" b="0">
                <a:solidFill>
                  <a:srgbClr val="36454F"/>
                </a:solidFill>
                <a:latin typeface="Calibri"/>
              </a:rPr>
              <a:t> Check system facts</a:t>
            </a:r>
          </a:p>
          <a:p>
            <a:pPr>
              <a:spcAft>
                <a:spcPts val="400"/>
              </a:spcAft>
            </a:pPr>
            <a:r>
              <a:rPr sz="1400" b="1">
                <a:solidFill>
                  <a:srgbClr val="1E2761"/>
                </a:solidFill>
                <a:latin typeface="Calibri"/>
              </a:rPr>
              <a:t>▪  Never invent SAP names:</a:t>
            </a:r>
            <a:r>
              <a:rPr sz="1400" b="0">
                <a:solidFill>
                  <a:srgbClr val="36454F"/>
                </a:solidFill>
                <a:latin typeface="Calibri"/>
              </a:rPr>
              <a:t> Mark [CONFIRM in ADT] instead</a:t>
            </a:r>
          </a:p>
          <a:p>
            <a:pPr>
              <a:spcAft>
                <a:spcPts val="400"/>
              </a:spcAft>
            </a:pPr>
            <a:r>
              <a:rPr sz="1400" b="1">
                <a:solidFill>
                  <a:srgbClr val="1E2761"/>
                </a:solidFill>
                <a:latin typeface="Calibri"/>
              </a:rPr>
              <a:t>▪  Write safety:</a:t>
            </a:r>
            <a:r>
              <a:rPr sz="1400" b="0">
                <a:solidFill>
                  <a:srgbClr val="36454F"/>
                </a:solidFill>
                <a:latin typeface="Calibri"/>
              </a:rPr>
              <a:t> Confirmation needed for creates/changes</a:t>
            </a:r>
          </a:p>
          <a:p>
            <a:pPr>
              <a:spcAft>
                <a:spcPts val="400"/>
              </a:spcAft>
            </a:pPr>
            <a:r>
              <a:rPr sz="1400" b="1">
                <a:solidFill>
                  <a:srgbClr val="1E2761"/>
                </a:solidFill>
                <a:latin typeface="Calibri"/>
              </a:rPr>
              <a:t>▪  Testing:</a:t>
            </a:r>
            <a:r>
              <a:rPr sz="1400" b="0">
                <a:solidFill>
                  <a:srgbClr val="36454F"/>
                </a:solidFill>
                <a:latin typeface="Calibri"/>
              </a:rPr>
              <a:t> New logic needs ABAP Unit tests, flagged if missing</a:t>
            </a:r>
          </a:p>
          <a:p>
            <a:pPr>
              <a:spcAft>
                <a:spcPts val="400"/>
              </a:spcAft>
            </a:pPr>
            <a:r>
              <a:rPr sz="1400" b="1">
                <a:solidFill>
                  <a:srgbClr val="1E2761"/>
                </a:solidFill>
                <a:latin typeface="Calibri"/>
              </a:rPr>
              <a:t>▪  Authoritative sources:</a:t>
            </a:r>
            <a:r>
              <a:rPr sz="1400" b="0">
                <a:solidFill>
                  <a:srgbClr val="36454F"/>
                </a:solidFill>
                <a:latin typeface="Calibri"/>
              </a:rPr>
              <a:t> SAP guides, not guesses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Fork and Sync: How Updates Reach You</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Shape 4"/>
          <p:cNvSpPr/>
          <p:nvPr/>
        </p:nvSpPr>
        <p:spPr>
          <a:xfrm>
            <a:off x="914400" y="1188720"/>
            <a:ext cx="1828800" cy="457200"/>
          </a:xfrm>
          <a:prstGeom prst="rect">
            <a:avLst/>
          </a:prstGeom>
          <a:solidFill>
            <a:srgbClr val="1E2761"/>
          </a:solidFill>
          <a:ln w="12700">
            <a:solidFill>
              <a:srgbClr val="36454F"/>
            </a:solidFill>
            <a:prstDash val="solid"/>
          </a:ln>
        </p:spPr>
        <p:txBody>
          <a:bodyPr/>
          <a:p/>
        </p:txBody>
      </p:sp>
      <p:sp>
        <p:nvSpPr>
          <p:cNvPr id="8" name="Text 5"/>
          <p:cNvSpPr txBox="1"/>
          <p:nvPr/>
        </p:nvSpPr>
        <p:spPr>
          <a:xfrm>
            <a:off x="914400" y="1188720"/>
            <a:ext cx="18288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Team repo</a:t>
            </a:r>
            <a:endParaRPr lang="en-US" sz="1100" dirty="0"/>
          </a:p>
          <a:p>
            <a:pPr algn="ctr" indent="0" marL="0">
              <a:buNone/>
            </a:pPr>
            <a:r>
              <a:rPr lang="en-US" sz="1200" b="1" dirty="0">
                <a:solidFill>
                  <a:srgbClr val="FFFFFF"/>
                </a:solidFill>
                <a:latin typeface="Calibri" pitchFamily="34" charset="0"/>
                <a:ea typeface="Calibri" pitchFamily="34" charset="-122"/>
                <a:cs typeface="Calibri" pitchFamily="34" charset="-120"/>
              </a:rPr>
              <a:t>(upstream)</a:t>
            </a:r>
            <a:endParaRPr lang="en-US" sz="1100" dirty="0"/>
          </a:p>
        </p:txBody>
      </p:sp>
      <p:sp>
        <p:nvSpPr>
          <p:cNvPr id="9" name="Text 7"/>
          <p:cNvSpPr txBox="1"/>
          <p:nvPr/>
        </p:nvSpPr>
        <p:spPr>
          <a:xfrm>
            <a:off x="1965960" y="1920240"/>
            <a:ext cx="731520" cy="274320"/>
          </a:xfrm>
          <a:prstGeom prst="rect">
            <a:avLst/>
          </a:prstGeom>
          <a:noFill/>
          <a:ln/>
        </p:spPr>
        <p:txBody>
          <a:bodyPr wrap="square" rtlCol="0" anchor="ctr"/>
          <a:lstStyle/>
          <a:p>
            <a:pPr indent="0" marL="0">
              <a:buNone/>
            </a:pPr>
            <a:r>
              <a:rPr lang="en-US" sz="1000" dirty="0">
                <a:solidFill>
                  <a:srgbClr val="36454F"/>
                </a:solidFill>
                <a:latin typeface="Calibri" pitchFamily="34" charset="0"/>
                <a:ea typeface="Calibri" pitchFamily="34" charset="-122"/>
                <a:cs typeface="Calibri" pitchFamily="34" charset="-120"/>
              </a:rPr>
              <a:t>fork</a:t>
            </a:r>
            <a:endParaRPr lang="en-US" sz="1000" dirty="0"/>
          </a:p>
        </p:txBody>
      </p:sp>
      <p:sp>
        <p:nvSpPr>
          <p:cNvPr id="10" name="Shape 8"/>
          <p:cNvSpPr/>
          <p:nvPr/>
        </p:nvSpPr>
        <p:spPr>
          <a:xfrm>
            <a:off x="914400" y="2468880"/>
            <a:ext cx="1828800" cy="457200"/>
          </a:xfrm>
          <a:prstGeom prst="rect">
            <a:avLst/>
          </a:prstGeom>
          <a:solidFill>
            <a:srgbClr val="CADCFC"/>
          </a:solidFill>
          <a:ln w="12700">
            <a:solidFill>
              <a:srgbClr val="36454F"/>
            </a:solidFill>
            <a:prstDash val="solid"/>
          </a:ln>
        </p:spPr>
        <p:txBody>
          <a:bodyPr/>
          <a:p/>
        </p:txBody>
      </p:sp>
      <p:sp>
        <p:nvSpPr>
          <p:cNvPr id="11" name="Text 9"/>
          <p:cNvSpPr txBox="1"/>
          <p:nvPr/>
        </p:nvSpPr>
        <p:spPr>
          <a:xfrm>
            <a:off x="914400" y="2468880"/>
            <a:ext cx="1828800" cy="45720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Your fork</a:t>
            </a:r>
            <a:endParaRPr lang="en-US" sz="1100" dirty="0"/>
          </a:p>
          <a:p>
            <a:pPr algn="ctr" indent="0" marL="0">
              <a:buNone/>
            </a:pPr>
            <a:r>
              <a:rPr lang="en-US" sz="1200" b="1" dirty="0">
                <a:solidFill>
                  <a:srgbClr val="36454F"/>
                </a:solidFill>
                <a:latin typeface="Calibri" pitchFamily="34" charset="0"/>
                <a:ea typeface="Calibri" pitchFamily="34" charset="-122"/>
                <a:cs typeface="Calibri" pitchFamily="34" charset="-120"/>
              </a:rPr>
              <a:t>(origin)</a:t>
            </a:r>
            <a:endParaRPr lang="en-US" sz="1100" dirty="0"/>
          </a:p>
        </p:txBody>
      </p:sp>
      <p:sp>
        <p:nvSpPr>
          <p:cNvPr id="12" name="Text 11"/>
          <p:cNvSpPr txBox="1"/>
          <p:nvPr/>
        </p:nvSpPr>
        <p:spPr>
          <a:xfrm>
            <a:off x="1965960" y="3200400"/>
            <a:ext cx="731520" cy="274320"/>
          </a:xfrm>
          <a:prstGeom prst="rect">
            <a:avLst/>
          </a:prstGeom>
          <a:noFill/>
          <a:ln/>
        </p:spPr>
        <p:txBody>
          <a:bodyPr wrap="square" rtlCol="0" anchor="ctr"/>
          <a:lstStyle/>
          <a:p>
            <a:pPr indent="0" marL="0">
              <a:buNone/>
            </a:pPr>
            <a:r>
              <a:rPr lang="en-US" sz="1000" dirty="0">
                <a:solidFill>
                  <a:srgbClr val="36454F"/>
                </a:solidFill>
                <a:latin typeface="Calibri" pitchFamily="34" charset="0"/>
                <a:ea typeface="Calibri" pitchFamily="34" charset="-122"/>
                <a:cs typeface="Calibri" pitchFamily="34" charset="-120"/>
              </a:rPr>
              <a:t>clone</a:t>
            </a:r>
            <a:endParaRPr lang="en-US" sz="1000" dirty="0"/>
          </a:p>
        </p:txBody>
      </p:sp>
      <p:sp>
        <p:nvSpPr>
          <p:cNvPr id="13" name="Shape 12"/>
          <p:cNvSpPr/>
          <p:nvPr/>
        </p:nvSpPr>
        <p:spPr>
          <a:xfrm>
            <a:off x="914400" y="3749040"/>
            <a:ext cx="1828800" cy="457200"/>
          </a:xfrm>
          <a:prstGeom prst="rect">
            <a:avLst/>
          </a:prstGeom>
          <a:solidFill>
            <a:srgbClr val="F2F2F2"/>
          </a:solidFill>
          <a:ln w="12700">
            <a:solidFill>
              <a:srgbClr val="36454F"/>
            </a:solidFill>
            <a:prstDash val="solid"/>
          </a:ln>
        </p:spPr>
        <p:txBody>
          <a:bodyPr/>
          <a:p/>
        </p:txBody>
      </p:sp>
      <p:sp>
        <p:nvSpPr>
          <p:cNvPr id="14" name="Text 13"/>
          <p:cNvSpPr txBox="1"/>
          <p:nvPr/>
        </p:nvSpPr>
        <p:spPr>
          <a:xfrm>
            <a:off x="914400" y="3749040"/>
            <a:ext cx="1828800" cy="45720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Your laptop</a:t>
            </a:r>
            <a:endParaRPr lang="en-US" sz="1100" dirty="0"/>
          </a:p>
          <a:p>
            <a:pPr algn="ctr" indent="0" marL="0">
              <a:buNone/>
            </a:pPr>
            <a:r>
              <a:rPr lang="en-US" sz="1200" b="1" dirty="0">
                <a:solidFill>
                  <a:srgbClr val="36454F"/>
                </a:solidFill>
                <a:latin typeface="Calibri" pitchFamily="34" charset="0"/>
                <a:ea typeface="Calibri" pitchFamily="34" charset="-122"/>
                <a:cs typeface="Calibri" pitchFamily="34" charset="-120"/>
              </a:rPr>
              <a:t>/ VS Code</a:t>
            </a:r>
            <a:endParaRPr lang="en-US" sz="1100" dirty="0"/>
          </a:p>
        </p:txBody>
      </p:sp>
      <p:sp>
        <p:nvSpPr>
          <p:cNvPr id="15" name="Text 14"/>
          <p:cNvSpPr txBox="1"/>
          <p:nvPr/>
        </p:nvSpPr>
        <p:spPr>
          <a:xfrm>
            <a:off x="3200400" y="1188720"/>
            <a:ext cx="5303520" cy="301752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One-time setup: Fork → clone → add upstream remote → connect SAP ABAP extension</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Receiving updates: git fetch upstream; git merge upstream/main; git push origin main</a:t>
            </a:r>
            <a:endParaRPr lang="en-US" sz="1200" dirty="0"/>
          </a:p>
        </p:txBody>
      </p:sp>
      <p:sp>
        <p:nvSpPr>
          <p:cNvPr id="16"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7</a:t>
            </a:fld>
            <a:endParaRPr lang="en-US"/>
          </a:p>
        </p:txBody>
      </p:sp>
      <p:cxnSp>
        <p:nvCxnSpPr>
          <p:cNvPr id="17" name="Connector 18"/>
          <p:cNvCxnSpPr/>
          <p:nvPr/>
        </p:nvCxnSpPr>
        <p:spPr>
          <a:xfrm>
            <a:off x="1828800" y="1645920"/>
            <a:ext cx="0" cy="822960"/>
          </a:xfrm>
          <a:prstGeom prst="line">
            <a:avLst/>
          </a:prstGeom>
          <a:ln w="2540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9"/>
          <p:cNvCxnSpPr/>
          <p:nvPr/>
        </p:nvCxnSpPr>
        <p:spPr>
          <a:xfrm>
            <a:off x="1828800" y="2926080"/>
            <a:ext cx="0" cy="822959"/>
          </a:xfrm>
          <a:prstGeom prst="line">
            <a:avLst/>
          </a:prstGeom>
          <a:ln w="2540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Fork &amp; Sync: One-Time Setup</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457200" y="1005840"/>
            <a:ext cx="8229600" cy="274320"/>
          </a:xfrm>
          <a:prstGeom prst="rect">
            <a:avLst/>
          </a:prstGeom>
          <a:noFill/>
          <a:ln/>
        </p:spPr>
        <p:txBody>
          <a:bodyPr wrap="square"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Steps to get started:</a:t>
            </a:r>
            <a:endParaRPr lang="en-US" sz="1300" dirty="0"/>
          </a:p>
        </p:txBody>
      </p:sp>
      <p:sp>
        <p:nvSpPr>
          <p:cNvPr id="6" name="Text 3"/>
          <p:cNvSpPr txBox="1"/>
          <p:nvPr/>
        </p:nvSpPr>
        <p:spPr>
          <a:xfrm>
            <a:off x="640080" y="1371600"/>
            <a:ext cx="7863840" cy="3383280"/>
          </a:xfrm>
          <a:prstGeom prst="rect">
            <a:avLst/>
          </a:prstGeom>
          <a:noFill/>
          <a:ln/>
        </p:spPr>
        <p:txBody>
          <a:bodyPr wrap="square" rtlCol="0" anchor="t"/>
          <a:lstStyle/>
          <a:p>
            <a:pPr indent="0" marL="0">
              <a:buNone/>
            </a:pPr>
            <a:r>
              <a:rPr lang="en-US" sz="1200" dirty="0">
                <a:solidFill>
                  <a:srgbClr val="36454F"/>
                </a:solidFill>
                <a:latin typeface="Courier New" pitchFamily="34" charset="0"/>
                <a:ea typeface="Courier New" pitchFamily="34" charset="-122"/>
                <a:cs typeface="Courier New" pitchFamily="34" charset="-120"/>
              </a:rPr>
              <a:t>1. Fork the team repo on GitHub</a:t>
            </a:r>
            <a:endParaRPr lang="en-US" sz="1200" dirty="0"/>
          </a:p>
          <a:p>
            <a:pPr indent="0" marL="0">
              <a:buNone/>
            </a:pPr>
            <a:endParaRPr lang="en-US" sz="1200" dirty="0"/>
          </a:p>
          <a:p>
            <a:pPr indent="0" marL="0">
              <a:buNone/>
            </a:pPr>
            <a:r>
              <a:rPr lang="en-US" sz="1200" dirty="0">
                <a:solidFill>
                  <a:srgbClr val="36454F"/>
                </a:solidFill>
                <a:latin typeface="Courier New" pitchFamily="34" charset="0"/>
                <a:ea typeface="Courier New" pitchFamily="34" charset="-122"/>
                <a:cs typeface="Courier New" pitchFamily="34" charset="-120"/>
              </a:rPr>
              <a:t>2. Clone your fork and add team repo as upstream:</a:t>
            </a:r>
            <a:endParaRPr lang="en-US" sz="1200" dirty="0"/>
          </a:p>
          <a:p>
            <a:pPr indent="0" marL="0">
              <a:buNone/>
            </a:pPr>
            <a:r>
              <a:rPr lang="en-US" sz="1200" dirty="0">
                <a:solidFill>
                  <a:srgbClr val="36454F"/>
                </a:solidFill>
                <a:latin typeface="Courier New" pitchFamily="34" charset="0"/>
                <a:ea typeface="Courier New" pitchFamily="34" charset="-122"/>
                <a:cs typeface="Courier New" pitchFamily="34" charset="-120"/>
              </a:rPr>
              <a:t>    git clone https://github.com/&lt;you&gt;/my-abap-workspace.git</a:t>
            </a:r>
            <a:endParaRPr lang="en-US" sz="1200" dirty="0"/>
          </a:p>
          <a:p>
            <a:pPr indent="0" marL="0">
              <a:buNone/>
            </a:pPr>
            <a:r>
              <a:rPr lang="en-US" sz="1200" dirty="0">
                <a:solidFill>
                  <a:srgbClr val="36454F"/>
                </a:solidFill>
                <a:latin typeface="Courier New" pitchFamily="34" charset="0"/>
                <a:ea typeface="Courier New" pitchFamily="34" charset="-122"/>
                <a:cs typeface="Courier New" pitchFamily="34" charset="-120"/>
              </a:rPr>
              <a:t>    cd my-abap-workspace</a:t>
            </a:r>
            <a:endParaRPr lang="en-US" sz="1200" dirty="0"/>
          </a:p>
          <a:p>
            <a:pPr indent="0" marL="0">
              <a:buNone/>
            </a:pPr>
            <a:r>
              <a:rPr lang="en-US" sz="1200" dirty="0">
                <a:solidFill>
                  <a:srgbClr val="36454F"/>
                </a:solidFill>
                <a:latin typeface="Courier New" pitchFamily="34" charset="0"/>
                <a:ea typeface="Courier New" pitchFamily="34" charset="-122"/>
                <a:cs typeface="Courier New" pitchFamily="34" charset="-120"/>
              </a:rPr>
              <a:t>    git remote add upstream https://github.com/RJTechRamjee/my-abap-workspace.git</a:t>
            </a:r>
            <a:endParaRPr lang="en-US" sz="1200" dirty="0"/>
          </a:p>
          <a:p>
            <a:pPr indent="0" marL="0">
              <a:buNone/>
            </a:pPr>
            <a:endParaRPr lang="en-US" sz="1200" dirty="0"/>
          </a:p>
          <a:p>
            <a:pPr indent="0" marL="0">
              <a:buNone/>
            </a:pPr>
            <a:r>
              <a:rPr lang="en-US" sz="1200" dirty="0">
                <a:solidFill>
                  <a:srgbClr val="36454F"/>
                </a:solidFill>
                <a:latin typeface="Courier New" pitchFamily="34" charset="0"/>
                <a:ea typeface="Courier New" pitchFamily="34" charset="-122"/>
                <a:cs typeface="Courier New" pitchFamily="34" charset="-120"/>
              </a:rPr>
              <a:t>3. Open folder in VS Code, connect SAP ABAP extension to your system</a:t>
            </a:r>
            <a:endParaRPr lang="en-US" sz="1200" dirty="0"/>
          </a:p>
          <a:p>
            <a:pPr indent="0" marL="0">
              <a:buNone/>
            </a:pPr>
            <a:endParaRPr lang="en-US" sz="1200" dirty="0"/>
          </a:p>
          <a:p>
            <a:pPr indent="0" marL="0">
              <a:buNone/>
            </a:pPr>
            <a:r>
              <a:rPr lang="en-US" sz="1200" dirty="0">
                <a:solidFill>
                  <a:srgbClr val="36454F"/>
                </a:solidFill>
                <a:latin typeface="Courier New" pitchFamily="34" charset="0"/>
                <a:ea typeface="Courier New" pitchFamily="34" charset="-122"/>
                <a:cs typeface="Courier New" pitchFamily="34" charset="-120"/>
              </a:rPr>
              <a:t>4. Check that ADT MCP Server is running</a:t>
            </a:r>
            <a:endParaRPr lang="en-US" sz="1200" dirty="0"/>
          </a:p>
        </p:txBody>
      </p:sp>
      <p:sp>
        <p:nvSpPr>
          <p:cNvPr id="7"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Fork &amp; Sync: Receiving Updates &amp; Contributing</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457200" y="1005840"/>
            <a:ext cx="4114800" cy="27432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Receiving a new version:</a:t>
            </a:r>
            <a:endParaRPr lang="en-US" sz="1200" dirty="0"/>
          </a:p>
        </p:txBody>
      </p:sp>
      <p:sp>
        <p:nvSpPr>
          <p:cNvPr id="6" name="Text 3"/>
          <p:cNvSpPr txBox="1"/>
          <p:nvPr/>
        </p:nvSpPr>
        <p:spPr>
          <a:xfrm>
            <a:off x="640080" y="1371600"/>
            <a:ext cx="3749040" cy="1097280"/>
          </a:xfrm>
          <a:prstGeom prst="rect">
            <a:avLst/>
          </a:prstGeom>
          <a:noFill/>
          <a:ln/>
        </p:spPr>
        <p:txBody>
          <a:bodyPr wrap="square" rtlCol="0" anchor="t"/>
          <a:lstStyle/>
          <a:p>
            <a:pPr indent="0" marL="0">
              <a:buNone/>
            </a:pPr>
            <a:r>
              <a:rPr lang="en-US" sz="1200" dirty="0">
                <a:solidFill>
                  <a:srgbClr val="36454F"/>
                </a:solidFill>
                <a:latin typeface="Courier New" pitchFamily="34" charset="0"/>
                <a:ea typeface="Courier New" pitchFamily="34" charset="-122"/>
                <a:cs typeface="Courier New" pitchFamily="34" charset="-120"/>
              </a:rPr>
              <a:t>git fetch upstream</a:t>
            </a:r>
            <a:endParaRPr lang="en-US" sz="1100" dirty="0"/>
          </a:p>
          <a:p>
            <a:pPr indent="0" marL="0">
              <a:buNone/>
            </a:pPr>
            <a:r>
              <a:rPr lang="en-US" sz="1200" dirty="0">
                <a:solidFill>
                  <a:srgbClr val="36454F"/>
                </a:solidFill>
                <a:latin typeface="Courier New" pitchFamily="34" charset="0"/>
                <a:ea typeface="Courier New" pitchFamily="34" charset="-122"/>
                <a:cs typeface="Courier New" pitchFamily="34" charset="-120"/>
              </a:rPr>
              <a:t>git merge upstream/main</a:t>
            </a:r>
            <a:endParaRPr lang="en-US" sz="1100" dirty="0"/>
          </a:p>
          <a:p>
            <a:pPr indent="0" marL="0">
              <a:buNone/>
            </a:pPr>
            <a:r>
              <a:rPr lang="en-US" sz="1200" dirty="0">
                <a:solidFill>
                  <a:srgbClr val="36454F"/>
                </a:solidFill>
                <a:latin typeface="Courier New" pitchFamily="34" charset="0"/>
                <a:ea typeface="Courier New" pitchFamily="34" charset="-122"/>
                <a:cs typeface="Courier New" pitchFamily="34" charset="-120"/>
              </a:rPr>
              <a:t>git push origin main</a:t>
            </a:r>
            <a:endParaRPr lang="en-US" sz="1100" dirty="0"/>
          </a:p>
          <a:p>
            <a:pPr indent="0" marL="0">
              <a:buNone/>
            </a:pPr>
            <a:endParaRPr lang="en-US" sz="1100" dirty="0"/>
          </a:p>
          <a:p>
            <a:pPr indent="0" marL="0">
              <a:buNone/>
            </a:pPr>
            <a:r>
              <a:rPr lang="en-US" sz="1200" dirty="0">
                <a:solidFill>
                  <a:srgbClr val="36454F"/>
                </a:solidFill>
                <a:latin typeface="Courier New" pitchFamily="34" charset="0"/>
                <a:ea typeface="Courier New" pitchFamily="34" charset="-122"/>
                <a:cs typeface="Courier New" pitchFamily="34" charset="-120"/>
              </a:rPr>
              <a:t>Or click Sync fork on GitHub, then git pull</a:t>
            </a:r>
            <a:endParaRPr lang="en-US" sz="1100" dirty="0"/>
          </a:p>
        </p:txBody>
      </p:sp>
      <p:sp>
        <p:nvSpPr>
          <p:cNvPr id="7" name="Text 4"/>
          <p:cNvSpPr txBox="1"/>
          <p:nvPr/>
        </p:nvSpPr>
        <p:spPr>
          <a:xfrm>
            <a:off x="457200" y="2697480"/>
            <a:ext cx="4114800" cy="27432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Why this never conflicts:</a:t>
            </a:r>
            <a:endParaRPr lang="en-US" sz="1200" dirty="0"/>
          </a:p>
        </p:txBody>
      </p:sp>
      <p:sp>
        <p:nvSpPr>
          <p:cNvPr id="8" name="Text 5"/>
          <p:cNvSpPr txBox="1"/>
          <p:nvPr/>
        </p:nvSpPr>
        <p:spPr>
          <a:xfrm>
            <a:off x="640080" y="3017520"/>
            <a:ext cx="3749040" cy="137160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 Leads only change shared files</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You only change local-* files</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Copy shared file to local-&lt;name&gt; to customize</a:t>
            </a:r>
            <a:endParaRPr lang="en-US" sz="1100" dirty="0"/>
          </a:p>
        </p:txBody>
      </p:sp>
      <p:sp>
        <p:nvSpPr>
          <p:cNvPr id="9" name="Text 6"/>
          <p:cNvSpPr txBox="1"/>
          <p:nvPr/>
        </p:nvSpPr>
        <p:spPr>
          <a:xfrm>
            <a:off x="4754880" y="1005840"/>
            <a:ext cx="3931920" cy="27432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Contributing back:</a:t>
            </a:r>
            <a:endParaRPr lang="en-US" sz="1200" dirty="0"/>
          </a:p>
        </p:txBody>
      </p:sp>
      <p:sp>
        <p:nvSpPr>
          <p:cNvPr id="10" name="Text 7"/>
          <p:cNvSpPr txBox="1"/>
          <p:nvPr/>
        </p:nvSpPr>
        <p:spPr>
          <a:xfrm>
            <a:off x="4754880" y="1371600"/>
            <a:ext cx="3931920" cy="228600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1. Branch from upstream/main (not your own main)</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2. Commit your improvement</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3. Open a PR</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4. Lead reviews checklist: no personal data, ZRK_ naming, working links, tested</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5. After merge, everyone gets it on next sync</a:t>
            </a:r>
            <a:endParaRPr lang="en-US" sz="1100" dirty="0"/>
          </a:p>
        </p:txBody>
      </p:sp>
      <p:sp>
        <p:nvSpPr>
          <p:cNvPr id="11" name="Text 8"/>
          <p:cNvSpPr txBox="1"/>
          <p:nvPr/>
        </p:nvSpPr>
        <p:spPr>
          <a:xfrm>
            <a:off x="640080" y="4572000"/>
            <a:ext cx="7863840" cy="274320"/>
          </a:xfrm>
          <a:prstGeom prst="rect">
            <a:avLst/>
          </a:prstGeom>
          <a:solidFill>
            <a:srgbClr val="FFF3CD"/>
          </a:solidFill>
          <a:ln/>
        </p:spPr>
        <p:txBody>
          <a:bodyPr wrap="square" rtlCol="0" anchor="ctr"/>
          <a:lstStyle/>
          <a:p>
            <a:pPr indent="0" marL="0">
              <a:buNone/>
            </a:pPr>
            <a:r>
              <a:rPr lang="en-US" sz="1000" dirty="0">
                <a:solidFill>
                  <a:srgbClr val="36454F"/>
                </a:solidFill>
                <a:latin typeface="Calibri" pitchFamily="34" charset="0"/>
                <a:ea typeface="Calibri" pitchFamily="34" charset="-122"/>
                <a:cs typeface="Calibri" pitchFamily="34" charset="-120"/>
              </a:rPr>
              <a:t>[Note: Suggest v1.0+ tagging &amp; releases when to sync]</a:t>
            </a:r>
            <a:endParaRPr lang="en-US" sz="1000" dirty="0"/>
          </a:p>
        </p:txBody>
      </p:sp>
      <p:sp>
        <p:nvSpPr>
          <p:cNvPr id="12"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Repository Structure</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10</a:t>
            </a:fld>
            <a:endParaRPr lang="en-US"/>
          </a:p>
        </p:txBody>
      </p:sp>
      <p:graphicFrame>
        <p:nvGraphicFramePr>
          <p:cNvPr id="8" name="Table 8"/>
          <p:cNvGraphicFramePr>
            <a:graphicFrameLocks noGrp="1"/>
          </p:cNvGraphicFramePr>
          <p:nvPr/>
        </p:nvGraphicFramePr>
        <p:xfrm>
          <a:off x="457200" y="914400"/>
          <a:ext cx="8229600" cy="3328416"/>
        </p:xfrm>
        <a:graphic>
          <a:graphicData uri="http://schemas.openxmlformats.org/drawingml/2006/table">
            <a:tbl>
              <a:tblPr firstRow="0" bandRow="0">
                <a:tableStyleId>{5C22544A-7EE6-4342-B048-85BDC9FD1C3A}</a:tableStyleId>
              </a:tblPr>
              <a:tblGrid>
                <a:gridCol w="3566160"/>
                <a:gridCol w="4663440"/>
              </a:tblGrid>
              <a:tr h="256032">
                <a:tc>
                  <a:txBody>
                    <a:bodyPr/>
                    <a:lstStyle/>
                    <a:p>
                      <a:r>
                        <a:rPr sz="1200" b="1">
                          <a:solidFill>
                            <a:srgbClr val="1E2761"/>
                          </a:solidFill>
                          <a:latin typeface="Consolas"/>
                        </a:rPr>
                        <a:t>my-abap-workspace/</a:t>
                      </a:r>
                    </a:p>
                  </a:txBody>
                  <a:tcPr marL="73152" marR="73152" marT="18288" marB="18288" anchor="ctr">
                    <a:solidFill>
                      <a:srgbClr val="FFFFFF"/>
                    </a:solidFill>
                  </a:tcPr>
                </a:tc>
                <a:tc>
                  <a:txBody>
                    <a:bodyPr/>
                    <a:lstStyle/>
                    <a:p>
                      <a:r>
                        <a:rPr sz="1200" b="0">
                          <a:solidFill>
                            <a:srgbClr val="36454F"/>
                          </a:solidFill>
                          <a:latin typeface="Calibri"/>
                        </a:rPr>
                        <a:t/>
                      </a:r>
                    </a:p>
                  </a:txBody>
                  <a:tcPr marL="73152" marR="73152" marT="18288" marB="18288" anchor="ctr">
                    <a:solidFill>
                      <a:srgbClr val="FFFFFF"/>
                    </a:solidFill>
                  </a:tcPr>
                </a:tc>
              </a:tr>
              <a:tr h="256032">
                <a:tc>
                  <a:txBody>
                    <a:bodyPr/>
                    <a:lstStyle/>
                    <a:p>
                      <a:r>
                        <a:rPr sz="1200" b="1">
                          <a:solidFill>
                            <a:srgbClr val="1E2761"/>
                          </a:solidFill>
                          <a:latin typeface="Consolas"/>
                        </a:rPr>
                        <a:t>├─ .github/</a:t>
                      </a:r>
                    </a:p>
                  </a:txBody>
                  <a:tcPr marL="73152" marR="73152" marT="18288" marB="18288" anchor="ctr">
                    <a:solidFill>
                      <a:srgbClr val="F2F2F2"/>
                    </a:solidFill>
                  </a:tcPr>
                </a:tc>
                <a:tc>
                  <a:txBody>
                    <a:bodyPr/>
                    <a:lstStyle/>
                    <a:p>
                      <a:r>
                        <a:rPr sz="1200" b="0">
                          <a:solidFill>
                            <a:srgbClr val="36454F"/>
                          </a:solidFill>
                          <a:latin typeface="Calibri"/>
                        </a:rPr>
                        <a:t>Everything Copilot reads</a:t>
                      </a:r>
                    </a:p>
                  </a:txBody>
                  <a:tcPr marL="73152" marR="73152" marT="18288" marB="18288" anchor="ctr">
                    <a:solidFill>
                      <a:srgbClr val="F2F2F2"/>
                    </a:solidFill>
                  </a:tcPr>
                </a:tc>
              </a:tr>
              <a:tr h="256032">
                <a:tc>
                  <a:txBody>
                    <a:bodyPr/>
                    <a:lstStyle/>
                    <a:p>
                      <a:r>
                        <a:rPr sz="1200" b="0">
                          <a:solidFill>
                            <a:srgbClr val="1E2761"/>
                          </a:solidFill>
                          <a:latin typeface="Consolas"/>
                        </a:rPr>
                        <a:t>│  ├─ agents/</a:t>
                      </a:r>
                    </a:p>
                  </a:txBody>
                  <a:tcPr marL="73152" marR="73152" marT="18288" marB="18288" anchor="ctr">
                    <a:solidFill>
                      <a:srgbClr val="FFFFFF"/>
                    </a:solidFill>
                  </a:tcPr>
                </a:tc>
                <a:tc>
                  <a:txBody>
                    <a:bodyPr/>
                    <a:lstStyle/>
                    <a:p>
                      <a:r>
                        <a:rPr sz="1200" b="0">
                          <a:solidFill>
                            <a:srgbClr val="36454F"/>
                          </a:solidFill>
                          <a:latin typeface="Calibri"/>
                        </a:rPr>
                        <a:t>3 agents: architect, senior developer, reviewer</a:t>
                      </a:r>
                    </a:p>
                  </a:txBody>
                  <a:tcPr marL="73152" marR="73152" marT="18288" marB="18288" anchor="ctr">
                    <a:solidFill>
                      <a:srgbClr val="FFFFFF"/>
                    </a:solidFill>
                  </a:tcPr>
                </a:tc>
              </a:tr>
              <a:tr h="256032">
                <a:tc>
                  <a:txBody>
                    <a:bodyPr/>
                    <a:lstStyle/>
                    <a:p>
                      <a:r>
                        <a:rPr sz="1200" b="0">
                          <a:solidFill>
                            <a:srgbClr val="1E2761"/>
                          </a:solidFill>
                          <a:latin typeface="Consolas"/>
                        </a:rPr>
                        <a:t>│  ├─ instructions/</a:t>
                      </a:r>
                    </a:p>
                  </a:txBody>
                  <a:tcPr marL="73152" marR="73152" marT="18288" marB="18288" anchor="ctr">
                    <a:solidFill>
                      <a:srgbClr val="F2F2F2"/>
                    </a:solidFill>
                  </a:tcPr>
                </a:tc>
                <a:tc>
                  <a:txBody>
                    <a:bodyPr/>
                    <a:lstStyle/>
                    <a:p>
                      <a:r>
                        <a:rPr sz="1200" b="0">
                          <a:solidFill>
                            <a:srgbClr val="36454F"/>
                          </a:solidFill>
                          <a:latin typeface="Calibri"/>
                        </a:rPr>
                        <a:t>4 rule files, attached automatically by file type</a:t>
                      </a:r>
                    </a:p>
                  </a:txBody>
                  <a:tcPr marL="73152" marR="73152" marT="18288" marB="18288" anchor="ctr">
                    <a:solidFill>
                      <a:srgbClr val="F2F2F2"/>
                    </a:solidFill>
                  </a:tcPr>
                </a:tc>
              </a:tr>
              <a:tr h="256032">
                <a:tc>
                  <a:txBody>
                    <a:bodyPr/>
                    <a:lstStyle/>
                    <a:p>
                      <a:r>
                        <a:rPr sz="1200" b="0">
                          <a:solidFill>
                            <a:srgbClr val="1E2761"/>
                          </a:solidFill>
                          <a:latin typeface="Consolas"/>
                        </a:rPr>
                        <a:t>│  ├─ prompts/</a:t>
                      </a:r>
                    </a:p>
                  </a:txBody>
                  <a:tcPr marL="73152" marR="73152" marT="18288" marB="18288" anchor="ctr">
                    <a:solidFill>
                      <a:srgbClr val="FFFFFF"/>
                    </a:solidFill>
                  </a:tcPr>
                </a:tc>
                <a:tc>
                  <a:txBody>
                    <a:bodyPr/>
                    <a:lstStyle/>
                    <a:p>
                      <a:r>
                        <a:rPr sz="1200" b="0">
                          <a:solidFill>
                            <a:srgbClr val="36454F"/>
                          </a:solidFill>
                          <a:latin typeface="Calibri"/>
                        </a:rPr>
                        <a:t>15 task recipes, run with /name</a:t>
                      </a:r>
                    </a:p>
                  </a:txBody>
                  <a:tcPr marL="73152" marR="73152" marT="18288" marB="18288" anchor="ctr">
                    <a:solidFill>
                      <a:srgbClr val="FFFFFF"/>
                    </a:solidFill>
                  </a:tcPr>
                </a:tc>
              </a:tr>
              <a:tr h="256032">
                <a:tc>
                  <a:txBody>
                    <a:bodyPr/>
                    <a:lstStyle/>
                    <a:p>
                      <a:r>
                        <a:rPr sz="1200" b="0">
                          <a:solidFill>
                            <a:srgbClr val="1E2761"/>
                          </a:solidFill>
                          <a:latin typeface="Consolas"/>
                        </a:rPr>
                        <a:t>│  ├─ reference/</a:t>
                      </a:r>
                    </a:p>
                  </a:txBody>
                  <a:tcPr marL="73152" marR="73152" marT="18288" marB="18288" anchor="ctr">
                    <a:solidFill>
                      <a:srgbClr val="F2F2F2"/>
                    </a:solidFill>
                  </a:tcPr>
                </a:tc>
                <a:tc>
                  <a:txBody>
                    <a:bodyPr/>
                    <a:lstStyle/>
                    <a:p>
                      <a:r>
                        <a:rPr sz="1200" b="0">
                          <a:solidFill>
                            <a:srgbClr val="36454F"/>
                          </a:solidFill>
                          <a:latin typeface="Calibri"/>
                        </a:rPr>
                        <a:t>6 ground-truth files (start: sap-project-standards.md)</a:t>
                      </a:r>
                    </a:p>
                  </a:txBody>
                  <a:tcPr marL="73152" marR="73152" marT="18288" marB="18288" anchor="ctr">
                    <a:solidFill>
                      <a:srgbClr val="F2F2F2"/>
                    </a:solidFill>
                  </a:tcPr>
                </a:tc>
              </a:tr>
              <a:tr h="256032">
                <a:tc>
                  <a:txBody>
                    <a:bodyPr/>
                    <a:lstStyle/>
                    <a:p>
                      <a:r>
                        <a:rPr sz="1200" b="0">
                          <a:solidFill>
                            <a:srgbClr val="1E2761"/>
                          </a:solidFill>
                          <a:latin typeface="Consolas"/>
                        </a:rPr>
                        <a:t>│  ├─ skills/</a:t>
                      </a:r>
                    </a:p>
                  </a:txBody>
                  <a:tcPr marL="73152" marR="73152" marT="18288" marB="18288" anchor="ctr">
                    <a:solidFill>
                      <a:srgbClr val="FFFFFF"/>
                    </a:solidFill>
                  </a:tcPr>
                </a:tc>
                <a:tc>
                  <a:txBody>
                    <a:bodyPr/>
                    <a:lstStyle/>
                    <a:p>
                      <a:r>
                        <a:rPr sz="1200" b="0">
                          <a:solidFill>
                            <a:srgbClr val="36454F"/>
                          </a:solidFill>
                          <a:latin typeface="Calibri"/>
                        </a:rPr>
                        <a:t>12 skills, one folder with a SKILL.md each</a:t>
                      </a:r>
                    </a:p>
                  </a:txBody>
                  <a:tcPr marL="73152" marR="73152" marT="18288" marB="18288" anchor="ctr">
                    <a:solidFill>
                      <a:srgbClr val="FFFFFF"/>
                    </a:solidFill>
                  </a:tcPr>
                </a:tc>
              </a:tr>
              <a:tr h="256032">
                <a:tc>
                  <a:txBody>
                    <a:bodyPr/>
                    <a:lstStyle/>
                    <a:p>
                      <a:r>
                        <a:rPr sz="1200" b="0">
                          <a:solidFill>
                            <a:srgbClr val="1E2761"/>
                          </a:solidFill>
                          <a:latin typeface="Consolas"/>
                        </a:rPr>
                        <a:t>│  ├─ templates/</a:t>
                      </a:r>
                    </a:p>
                  </a:txBody>
                  <a:tcPr marL="73152" marR="73152" marT="18288" marB="18288" anchor="ctr">
                    <a:solidFill>
                      <a:srgbClr val="F2F2F2"/>
                    </a:solidFill>
                  </a:tcPr>
                </a:tc>
                <a:tc>
                  <a:txBody>
                    <a:bodyPr/>
                    <a:lstStyle/>
                    <a:p>
                      <a:r>
                        <a:rPr sz="1200" b="0">
                          <a:solidFill>
                            <a:srgbClr val="36454F"/>
                          </a:solidFill>
                          <a:latin typeface="Calibri"/>
                        </a:rPr>
                        <a:t>10 output templates: FS, TDD, SDD, ADR, reviews…</a:t>
                      </a:r>
                    </a:p>
                  </a:txBody>
                  <a:tcPr marL="73152" marR="73152" marT="18288" marB="18288" anchor="ctr">
                    <a:solidFill>
                      <a:srgbClr val="F2F2F2"/>
                    </a:solidFill>
                  </a:tcPr>
                </a:tc>
              </a:tr>
              <a:tr h="256032">
                <a:tc>
                  <a:txBody>
                    <a:bodyPr/>
                    <a:lstStyle/>
                    <a:p>
                      <a:r>
                        <a:rPr sz="1200" b="0">
                          <a:solidFill>
                            <a:srgbClr val="1E2761"/>
                          </a:solidFill>
                          <a:latin typeface="Consolas"/>
                        </a:rPr>
                        <a:t>│  ├─ copilot-instructions.md</a:t>
                      </a:r>
                    </a:p>
                  </a:txBody>
                  <a:tcPr marL="73152" marR="73152" marT="18288" marB="18288" anchor="ctr">
                    <a:solidFill>
                      <a:srgbClr val="FFFFFF"/>
                    </a:solidFill>
                  </a:tcPr>
                </a:tc>
                <a:tc>
                  <a:txBody>
                    <a:bodyPr/>
                    <a:lstStyle/>
                    <a:p>
                      <a:r>
                        <a:rPr sz="1200" b="0">
                          <a:solidFill>
                            <a:srgbClr val="36454F"/>
                          </a:solidFill>
                          <a:latin typeface="Calibri"/>
                        </a:rPr>
                        <a:t>Always-on project rules, loaded in every chat</a:t>
                      </a:r>
                    </a:p>
                  </a:txBody>
                  <a:tcPr marL="73152" marR="73152" marT="18288" marB="18288" anchor="ctr">
                    <a:solidFill>
                      <a:srgbClr val="FFFFFF"/>
                    </a:solidFill>
                  </a:tcPr>
                </a:tc>
              </a:tr>
              <a:tr h="256032">
                <a:tc>
                  <a:txBody>
                    <a:bodyPr/>
                    <a:lstStyle/>
                    <a:p>
                      <a:r>
                        <a:rPr sz="1200" b="0">
                          <a:solidFill>
                            <a:srgbClr val="1E2761"/>
                          </a:solidFill>
                          <a:latin typeface="Consolas"/>
                        </a:rPr>
                        <a:t>│  └─ pull_request_template.md</a:t>
                      </a:r>
                    </a:p>
                  </a:txBody>
                  <a:tcPr marL="73152" marR="73152" marT="18288" marB="18288" anchor="ctr">
                    <a:solidFill>
                      <a:srgbClr val="F2F2F2"/>
                    </a:solidFill>
                  </a:tcPr>
                </a:tc>
                <a:tc>
                  <a:txBody>
                    <a:bodyPr/>
                    <a:lstStyle/>
                    <a:p>
                      <a:r>
                        <a:rPr sz="1200" b="0">
                          <a:solidFill>
                            <a:srgbClr val="36454F"/>
                          </a:solidFill>
                          <a:latin typeface="Calibri"/>
                        </a:rPr>
                        <a:t>Checklist for team contributions</a:t>
                      </a:r>
                    </a:p>
                  </a:txBody>
                  <a:tcPr marL="73152" marR="73152" marT="18288" marB="18288" anchor="ctr">
                    <a:solidFill>
                      <a:srgbClr val="F2F2F2"/>
                    </a:solidFill>
                  </a:tcPr>
                </a:tc>
              </a:tr>
              <a:tr h="256032">
                <a:tc>
                  <a:txBody>
                    <a:bodyPr/>
                    <a:lstStyle/>
                    <a:p>
                      <a:r>
                        <a:rPr sz="1200" b="1">
                          <a:solidFill>
                            <a:srgbClr val="1E2761"/>
                          </a:solidFill>
                          <a:latin typeface="Consolas"/>
                        </a:rPr>
                        <a:t>├─ .vscode/settings.json</a:t>
                      </a:r>
                    </a:p>
                  </a:txBody>
                  <a:tcPr marL="73152" marR="73152" marT="18288" marB="18288" anchor="ctr">
                    <a:solidFill>
                      <a:srgbClr val="FFFFFF"/>
                    </a:solidFill>
                  </a:tcPr>
                </a:tc>
                <a:tc>
                  <a:txBody>
                    <a:bodyPr/>
                    <a:lstStyle/>
                    <a:p>
                      <a:r>
                        <a:rPr sz="1200" b="0">
                          <a:solidFill>
                            <a:srgbClr val="36454F"/>
                          </a:solidFill>
                          <a:latin typeface="Calibri"/>
                        </a:rPr>
                        <a:t>Turns on instructions, prompts, skills and ADT MCP</a:t>
                      </a:r>
                    </a:p>
                  </a:txBody>
                  <a:tcPr marL="73152" marR="73152" marT="18288" marB="18288" anchor="ctr">
                    <a:solidFill>
                      <a:srgbClr val="FFFFFF"/>
                    </a:solidFill>
                  </a:tcPr>
                </a:tc>
              </a:tr>
              <a:tr h="256032">
                <a:tc>
                  <a:txBody>
                    <a:bodyPr/>
                    <a:lstStyle/>
                    <a:p>
                      <a:r>
                        <a:rPr sz="1200" b="0">
                          <a:solidFill>
                            <a:srgbClr val="1E2761"/>
                          </a:solidFill>
                          <a:latin typeface="Consolas"/>
                        </a:rPr>
                        <a:t>├─ .gitignore</a:t>
                      </a:r>
                    </a:p>
                  </a:txBody>
                  <a:tcPr marL="73152" marR="73152" marT="18288" marB="18288" anchor="ctr">
                    <a:solidFill>
                      <a:srgbClr val="F2F2F2"/>
                    </a:solidFill>
                  </a:tcPr>
                </a:tc>
                <a:tc>
                  <a:txBody>
                    <a:bodyPr/>
                    <a:lstStyle/>
                    <a:p>
                      <a:r>
                        <a:rPr sz="1200" b="0">
                          <a:solidFill>
                            <a:srgbClr val="36454F"/>
                          </a:solidFill>
                          <a:latin typeface="Calibri"/>
                        </a:rPr>
                        <a:t>Keeps local-* files and system-info.md personal</a:t>
                      </a:r>
                    </a:p>
                  </a:txBody>
                  <a:tcPr marL="73152" marR="73152" marT="18288" marB="18288" anchor="ctr">
                    <a:solidFill>
                      <a:srgbClr val="F2F2F2"/>
                    </a:solidFill>
                  </a:tcPr>
                </a:tc>
              </a:tr>
              <a:tr h="256032">
                <a:tc>
                  <a:txBody>
                    <a:bodyPr/>
                    <a:lstStyle/>
                    <a:p>
                      <a:r>
                        <a:rPr sz="1200" b="0">
                          <a:solidFill>
                            <a:srgbClr val="1E2761"/>
                          </a:solidFill>
                          <a:latin typeface="Consolas"/>
                        </a:rPr>
                        <a:t>└─ CONTRIBUTING.md</a:t>
                      </a:r>
                    </a:p>
                  </a:txBody>
                  <a:tcPr marL="73152" marR="73152" marT="18288" marB="18288" anchor="ctr">
                    <a:solidFill>
                      <a:srgbClr val="FFFFFF"/>
                    </a:solidFill>
                  </a:tcPr>
                </a:tc>
                <a:tc>
                  <a:txBody>
                    <a:bodyPr/>
                    <a:lstStyle/>
                    <a:p>
                      <a:r>
                        <a:rPr sz="1200" b="0">
                          <a:solidFill>
                            <a:srgbClr val="36454F"/>
                          </a:solidFill>
                          <a:latin typeface="Calibri"/>
                        </a:rPr>
                        <a:t>Fork / sync / contribute guide</a:t>
                      </a:r>
                    </a:p>
                  </a:txBody>
                  <a:tcPr marL="73152" marR="73152" marT="18288" marB="18288" anchor="ctr">
                    <a:solidFill>
                      <a:srgbClr val="FFFFFF"/>
                    </a:solidFill>
                  </a:tcPr>
                </a:tc>
              </a:tr>
            </a:tbl>
          </a:graphicData>
        </a:graphic>
      </p:graphicFrame>
      <p:sp>
        <p:nvSpPr>
          <p:cNvPr id="9" name="TextBox 9"/>
          <p:cNvSpPr txBox="1"/>
          <p:nvPr/>
        </p:nvSpPr>
        <p:spPr>
          <a:xfrm>
            <a:off x="457200" y="4343400"/>
            <a:ext cx="8229600" cy="320040"/>
          </a:xfrm>
          <a:prstGeom prst="rect">
            <a:avLst/>
          </a:prstGeom>
          <a:noFill/>
        </p:spPr>
        <p:txBody>
          <a:bodyPr wrap="none">
            <a:spAutoFit/>
          </a:bodyPr>
          <a:lstStyle/>
          <a:p>
            <a:r>
              <a:rPr sz="1200" b="0" i="1">
                <a:solidFill>
                  <a:srgbClr val="36454F"/>
                </a:solidFill>
                <a:latin typeface="Calibri"/>
              </a:rPr>
              <a:t>Personal and never shared: your local-* files and system-info.md (written by /bootstrap-system-context).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How the Workspace is Organised (Overview)</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474720"/>
        </p:xfrm>
        <a:graphic>
          <a:graphicData uri="http://schemas.openxmlformats.org/drawingml/2006/table">
            <a:tbl>
              <a:tblPr/>
              <a:tblGrid>
                <a:gridCol w="2743200"/>
                <a:gridCol w="2743200"/>
                <a:gridCol w="2743200"/>
              </a:tblGrid>
              <a:tr h="420624">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Folder</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What it contains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Who maintains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.github/copilot-instructions.md</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Rules AI must always follow</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Lead team</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.github/instructions/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Rules by file type</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Lead team</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.github/prompts/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Reusable task recipes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Lead team</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.github/skills/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Specialist knowledge</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Lead / architects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.github/agents/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Role-based assistants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Lead team</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.github/reference/</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Ground truth &amp; facts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Lead team</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local-* files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Personal additions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Each developer</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bl>
          </a:graphicData>
        </a:graphic>
      </p:graphicFrame>
      <p:sp>
        <p:nvSpPr>
          <p:cNvPr id="8"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10</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Four Building Blocks at a Glance</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11</a:t>
            </a:fld>
            <a:endParaRPr lang="en-US"/>
          </a:p>
        </p:txBody>
      </p:sp>
      <p:sp>
        <p:nvSpPr>
          <p:cNvPr id="6" name="Shape 0"/>
          <p:cNvSpPr/>
          <p:nvPr/>
        </p:nvSpPr>
        <p:spPr>
          <a:xfrm>
            <a:off x="8229600" y="182880"/>
            <a:ext cx="777240" cy="320040"/>
          </a:xfrm>
          <a:prstGeom prst="roundRect">
            <a:avLst>
              <a:gd name="adj" fmla="val 28571"/>
            </a:avLst>
          </a:prstGeom>
          <a:solidFill>
            <a:srgbClr val="1E2761"/>
          </a:solidFill>
          <a:ln/>
        </p:spPr>
        <p:txBody>
          <a:bodyPr/>
          <a:p/>
        </p:txBody>
      </p:sp>
      <p:sp>
        <p:nvSpPr>
          <p:cNvPr id="7"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graphicFrame>
        <p:nvGraphicFramePr>
          <p:cNvPr id="8" name="Table 25"/>
          <p:cNvGraphicFramePr>
            <a:graphicFrameLocks noGrp="1"/>
          </p:cNvGraphicFramePr>
          <p:nvPr/>
        </p:nvGraphicFramePr>
        <p:xfrm>
          <a:off x="457200" y="914400"/>
          <a:ext cx="8229600" cy="2514600"/>
        </p:xfrm>
        <a:graphic>
          <a:graphicData uri="http://schemas.openxmlformats.org/drawingml/2006/table">
            <a:tbl>
              <a:tblPr firstRow="1" bandRow="1">
                <a:tableStyleId>{5C22544A-7EE6-4342-B048-85BDC9FD1C3A}</a:tableStyleId>
              </a:tblPr>
              <a:tblGrid>
                <a:gridCol w="1280160"/>
                <a:gridCol w="1737360"/>
                <a:gridCol w="1737360"/>
                <a:gridCol w="1737360"/>
                <a:gridCol w="1737360"/>
              </a:tblGrid>
              <a:tr h="502920">
                <a:tc>
                  <a:txBody>
                    <a:bodyPr wrap="square"/>
                    <a:lstStyle/>
                    <a:p>
                      <a:r>
                        <a:rPr sz="1200" b="1">
                          <a:solidFill>
                            <a:srgbClr val="FFFFFF"/>
                          </a:solidFill>
                          <a:latin typeface="Calibri"/>
                        </a:rPr>
                        <a:t/>
                      </a:r>
                    </a:p>
                  </a:txBody>
                  <a:tcPr marL="73152" marR="73152" marT="36576" marB="36576" anchor="ctr">
                    <a:solidFill>
                      <a:srgbClr val="1E2761"/>
                    </a:solidFill>
                  </a:tcPr>
                </a:tc>
                <a:tc>
                  <a:txBody>
                    <a:bodyPr wrap="square"/>
                    <a:lstStyle/>
                    <a:p>
                      <a:r>
                        <a:rPr sz="1200" b="1">
                          <a:solidFill>
                            <a:srgbClr val="FFFFFF"/>
                          </a:solidFill>
                          <a:latin typeface="Calibri"/>
                        </a:rPr>
                        <a:t>Instruction</a:t>
                      </a:r>
                    </a:p>
                  </a:txBody>
                  <a:tcPr marL="73152" marR="73152" marT="36576" marB="36576" anchor="ctr">
                    <a:solidFill>
                      <a:srgbClr val="1E2761"/>
                    </a:solidFill>
                  </a:tcPr>
                </a:tc>
                <a:tc>
                  <a:txBody>
                    <a:bodyPr wrap="square"/>
                    <a:lstStyle/>
                    <a:p>
                      <a:r>
                        <a:rPr sz="1200" b="1">
                          <a:solidFill>
                            <a:srgbClr val="FFFFFF"/>
                          </a:solidFill>
                          <a:latin typeface="Calibri"/>
                        </a:rPr>
                        <a:t>Prompt</a:t>
                      </a:r>
                    </a:p>
                  </a:txBody>
                  <a:tcPr marL="73152" marR="73152" marT="36576" marB="36576" anchor="ctr">
                    <a:solidFill>
                      <a:srgbClr val="1E2761"/>
                    </a:solidFill>
                  </a:tcPr>
                </a:tc>
                <a:tc>
                  <a:txBody>
                    <a:bodyPr wrap="square"/>
                    <a:lstStyle/>
                    <a:p>
                      <a:r>
                        <a:rPr sz="1200" b="1">
                          <a:solidFill>
                            <a:srgbClr val="FFFFFF"/>
                          </a:solidFill>
                          <a:latin typeface="Calibri"/>
                        </a:rPr>
                        <a:t>Skill</a:t>
                      </a:r>
                    </a:p>
                  </a:txBody>
                  <a:tcPr marL="73152" marR="73152" marT="36576" marB="36576" anchor="ctr">
                    <a:solidFill>
                      <a:srgbClr val="1E2761"/>
                    </a:solidFill>
                  </a:tcPr>
                </a:tc>
                <a:tc>
                  <a:txBody>
                    <a:bodyPr wrap="square"/>
                    <a:lstStyle/>
                    <a:p>
                      <a:r>
                        <a:rPr sz="1200" b="1">
                          <a:solidFill>
                            <a:srgbClr val="FFFFFF"/>
                          </a:solidFill>
                          <a:latin typeface="Calibri"/>
                        </a:rPr>
                        <a:t>Agent</a:t>
                      </a:r>
                    </a:p>
                  </a:txBody>
                  <a:tcPr marL="73152" marR="73152" marT="36576" marB="36576" anchor="ctr">
                    <a:solidFill>
                      <a:srgbClr val="1E2761"/>
                    </a:solidFill>
                  </a:tcPr>
                </a:tc>
              </a:tr>
              <a:tr h="502920">
                <a:tc>
                  <a:txBody>
                    <a:bodyPr wrap="square"/>
                    <a:lstStyle/>
                    <a:p>
                      <a:r>
                        <a:rPr sz="1200" b="1">
                          <a:solidFill>
                            <a:srgbClr val="1E2761"/>
                          </a:solidFill>
                          <a:latin typeface="Calibri"/>
                        </a:rPr>
                        <a:t>In one line</a:t>
                      </a:r>
                    </a:p>
                  </a:txBody>
                  <a:tcPr marL="73152" marR="73152" marT="36576" marB="36576" anchor="ctr">
                    <a:solidFill>
                      <a:srgbClr val="F2F2F2"/>
                    </a:solidFill>
                  </a:tcPr>
                </a:tc>
                <a:tc>
                  <a:txBody>
                    <a:bodyPr wrap="square"/>
                    <a:lstStyle/>
                    <a:p>
                      <a:r>
                        <a:rPr sz="1200" b="0">
                          <a:solidFill>
                            <a:srgbClr val="36454F"/>
                          </a:solidFill>
                          <a:latin typeface="Calibri"/>
                        </a:rPr>
                        <a:t>A rule the AI always follows</a:t>
                      </a:r>
                    </a:p>
                  </a:txBody>
                  <a:tcPr marL="73152" marR="73152" marT="36576" marB="36576" anchor="ctr">
                    <a:solidFill>
                      <a:srgbClr val="F2F2F2"/>
                    </a:solidFill>
                  </a:tcPr>
                </a:tc>
                <a:tc>
                  <a:txBody>
                    <a:bodyPr wrap="square"/>
                    <a:lstStyle/>
                    <a:p>
                      <a:r>
                        <a:rPr sz="1200" b="0">
                          <a:solidFill>
                            <a:srgbClr val="36454F"/>
                          </a:solidFill>
                          <a:latin typeface="Calibri"/>
                        </a:rPr>
                        <a:t>A saved task recipe you run</a:t>
                      </a:r>
                    </a:p>
                  </a:txBody>
                  <a:tcPr marL="73152" marR="73152" marT="36576" marB="36576" anchor="ctr">
                    <a:solidFill>
                      <a:srgbClr val="F2F2F2"/>
                    </a:solidFill>
                  </a:tcPr>
                </a:tc>
                <a:tc>
                  <a:txBody>
                    <a:bodyPr wrap="square"/>
                    <a:lstStyle/>
                    <a:p>
                      <a:r>
                        <a:rPr sz="1200" b="0">
                          <a:solidFill>
                            <a:srgbClr val="36454F"/>
                          </a:solidFill>
                          <a:latin typeface="Calibri"/>
                        </a:rPr>
                        <a:t>Specialist know-how, loaded when needed</a:t>
                      </a:r>
                    </a:p>
                  </a:txBody>
                  <a:tcPr marL="73152" marR="73152" marT="36576" marB="36576" anchor="ctr">
                    <a:solidFill>
                      <a:srgbClr val="F2F2F2"/>
                    </a:solidFill>
                  </a:tcPr>
                </a:tc>
                <a:tc>
                  <a:txBody>
                    <a:bodyPr wrap="square"/>
                    <a:lstStyle/>
                    <a:p>
                      <a:r>
                        <a:rPr sz="1200" b="0">
                          <a:solidFill>
                            <a:srgbClr val="36454F"/>
                          </a:solidFill>
                          <a:latin typeface="Calibri"/>
                        </a:rPr>
                        <a:t>An AI team member with a role</a:t>
                      </a:r>
                    </a:p>
                  </a:txBody>
                  <a:tcPr marL="73152" marR="73152" marT="36576" marB="36576" anchor="ctr">
                    <a:solidFill>
                      <a:srgbClr val="F2F2F2"/>
                    </a:solidFill>
                  </a:tcPr>
                </a:tc>
              </a:tr>
              <a:tr h="502920">
                <a:tc>
                  <a:txBody>
                    <a:bodyPr wrap="square"/>
                    <a:lstStyle/>
                    <a:p>
                      <a:r>
                        <a:rPr sz="1200" b="1">
                          <a:solidFill>
                            <a:srgbClr val="1E2761"/>
                          </a:solidFill>
                          <a:latin typeface="Calibri"/>
                        </a:rPr>
                        <a:t>Who starts it</a:t>
                      </a:r>
                    </a:p>
                  </a:txBody>
                  <a:tcPr marL="73152" marR="73152" marT="36576" marB="36576" anchor="ctr">
                    <a:solidFill>
                      <a:srgbClr val="FFFFFF"/>
                    </a:solidFill>
                  </a:tcPr>
                </a:tc>
                <a:tc>
                  <a:txBody>
                    <a:bodyPr wrap="square"/>
                    <a:lstStyle/>
                    <a:p>
                      <a:r>
                        <a:rPr sz="1200" b="0">
                          <a:solidFill>
                            <a:srgbClr val="36454F"/>
                          </a:solidFill>
                          <a:latin typeface="Calibri"/>
                        </a:rPr>
                        <a:t>Nobody: automatic</a:t>
                      </a:r>
                    </a:p>
                  </a:txBody>
                  <a:tcPr marL="73152" marR="73152" marT="36576" marB="36576" anchor="ctr">
                    <a:solidFill>
                      <a:srgbClr val="FFFFFF"/>
                    </a:solidFill>
                  </a:tcPr>
                </a:tc>
                <a:tc>
                  <a:txBody>
                    <a:bodyPr wrap="square"/>
                    <a:lstStyle/>
                    <a:p>
                      <a:r>
                        <a:rPr sz="1200" b="0">
                          <a:solidFill>
                            <a:srgbClr val="36454F"/>
                          </a:solidFill>
                          <a:latin typeface="Calibri"/>
                        </a:rPr>
                        <a:t>You: type /name</a:t>
                      </a:r>
                    </a:p>
                  </a:txBody>
                  <a:tcPr marL="73152" marR="73152" marT="36576" marB="36576" anchor="ctr">
                    <a:solidFill>
                      <a:srgbClr val="FFFFFF"/>
                    </a:solidFill>
                  </a:tcPr>
                </a:tc>
                <a:tc>
                  <a:txBody>
                    <a:bodyPr wrap="square"/>
                    <a:lstStyle/>
                    <a:p>
                      <a:r>
                        <a:rPr sz="1200" b="0">
                          <a:solidFill>
                            <a:srgbClr val="36454F"/>
                          </a:solidFill>
                          <a:latin typeface="Calibri"/>
                        </a:rPr>
                        <a:t>The AI: request matches its description</a:t>
                      </a:r>
                    </a:p>
                  </a:txBody>
                  <a:tcPr marL="73152" marR="73152" marT="36576" marB="36576" anchor="ctr">
                    <a:solidFill>
                      <a:srgbClr val="FFFFFF"/>
                    </a:solidFill>
                  </a:tcPr>
                </a:tc>
                <a:tc>
                  <a:txBody>
                    <a:bodyPr wrap="square"/>
                    <a:lstStyle/>
                    <a:p>
                      <a:r>
                        <a:rPr sz="1200" b="0">
                          <a:solidFill>
                            <a:srgbClr val="36454F"/>
                          </a:solidFill>
                          <a:latin typeface="Calibri"/>
                        </a:rPr>
                        <a:t>You: pick it in the agent dropdown</a:t>
                      </a:r>
                    </a:p>
                  </a:txBody>
                  <a:tcPr marL="73152" marR="73152" marT="36576" marB="36576" anchor="ctr">
                    <a:solidFill>
                      <a:srgbClr val="FFFFFF"/>
                    </a:solidFill>
                  </a:tcPr>
                </a:tc>
              </a:tr>
              <a:tr h="502920">
                <a:tc>
                  <a:txBody>
                    <a:bodyPr wrap="square"/>
                    <a:lstStyle/>
                    <a:p>
                      <a:r>
                        <a:rPr sz="1200" b="1">
                          <a:solidFill>
                            <a:srgbClr val="1E2761"/>
                          </a:solidFill>
                          <a:latin typeface="Calibri"/>
                        </a:rPr>
                        <a:t>Active for</a:t>
                      </a:r>
                    </a:p>
                  </a:txBody>
                  <a:tcPr marL="73152" marR="73152" marT="36576" marB="36576" anchor="ctr">
                    <a:solidFill>
                      <a:srgbClr val="F2F2F2"/>
                    </a:solidFill>
                  </a:tcPr>
                </a:tc>
                <a:tc>
                  <a:txBody>
                    <a:bodyPr wrap="square"/>
                    <a:lstStyle/>
                    <a:p>
                      <a:r>
                        <a:rPr sz="1200" b="0">
                          <a:solidFill>
                            <a:srgbClr val="36454F"/>
                          </a:solidFill>
                          <a:latin typeface="Calibri"/>
                        </a:rPr>
                        <a:t>Every chat / matching files</a:t>
                      </a:r>
                    </a:p>
                  </a:txBody>
                  <a:tcPr marL="73152" marR="73152" marT="36576" marB="36576" anchor="ctr">
                    <a:solidFill>
                      <a:srgbClr val="F2F2F2"/>
                    </a:solidFill>
                  </a:tcPr>
                </a:tc>
                <a:tc>
                  <a:txBody>
                    <a:bodyPr wrap="square"/>
                    <a:lstStyle/>
                    <a:p>
                      <a:r>
                        <a:rPr sz="1200" b="0">
                          <a:solidFill>
                            <a:srgbClr val="36454F"/>
                          </a:solidFill>
                          <a:latin typeface="Calibri"/>
                        </a:rPr>
                        <a:t>One task</a:t>
                      </a:r>
                    </a:p>
                  </a:txBody>
                  <a:tcPr marL="73152" marR="73152" marT="36576" marB="36576" anchor="ctr">
                    <a:solidFill>
                      <a:srgbClr val="F2F2F2"/>
                    </a:solidFill>
                  </a:tcPr>
                </a:tc>
                <a:tc>
                  <a:txBody>
                    <a:bodyPr wrap="square"/>
                    <a:lstStyle/>
                    <a:p>
                      <a:r>
                        <a:rPr sz="1200" b="0">
                          <a:solidFill>
                            <a:srgbClr val="36454F"/>
                          </a:solidFill>
                          <a:latin typeface="Calibri"/>
                        </a:rPr>
                        <a:t>While the task needs it</a:t>
                      </a:r>
                    </a:p>
                  </a:txBody>
                  <a:tcPr marL="73152" marR="73152" marT="36576" marB="36576" anchor="ctr">
                    <a:solidFill>
                      <a:srgbClr val="F2F2F2"/>
                    </a:solidFill>
                  </a:tcPr>
                </a:tc>
                <a:tc>
                  <a:txBody>
                    <a:bodyPr wrap="square"/>
                    <a:lstStyle/>
                    <a:p>
                      <a:r>
                        <a:rPr sz="1200" b="0">
                          <a:solidFill>
                            <a:srgbClr val="36454F"/>
                          </a:solidFill>
                          <a:latin typeface="Calibri"/>
                        </a:rPr>
                        <a:t>The whole conversation</a:t>
                      </a:r>
                    </a:p>
                  </a:txBody>
                  <a:tcPr marL="73152" marR="73152" marT="36576" marB="36576" anchor="ctr">
                    <a:solidFill>
                      <a:srgbClr val="F2F2F2"/>
                    </a:solidFill>
                  </a:tcPr>
                </a:tc>
              </a:tr>
              <a:tr h="502920">
                <a:tc>
                  <a:txBody>
                    <a:bodyPr wrap="square"/>
                    <a:lstStyle/>
                    <a:p>
                      <a:r>
                        <a:rPr sz="1200" b="1">
                          <a:solidFill>
                            <a:srgbClr val="1E2761"/>
                          </a:solidFill>
                          <a:latin typeface="Calibri"/>
                        </a:rPr>
                        <a:t>Analogy</a:t>
                      </a:r>
                    </a:p>
                  </a:txBody>
                  <a:tcPr marL="73152" marR="73152" marT="36576" marB="36576" anchor="ctr">
                    <a:solidFill>
                      <a:srgbClr val="FFFFFF"/>
                    </a:solidFill>
                  </a:tcPr>
                </a:tc>
                <a:tc>
                  <a:txBody>
                    <a:bodyPr wrap="square"/>
                    <a:lstStyle/>
                    <a:p>
                      <a:r>
                        <a:rPr sz="1200" b="0">
                          <a:solidFill>
                            <a:srgbClr val="36454F"/>
                          </a:solidFill>
                          <a:latin typeface="Calibri"/>
                        </a:rPr>
                        <a:t>Company coding standard</a:t>
                      </a:r>
                    </a:p>
                  </a:txBody>
                  <a:tcPr marL="73152" marR="73152" marT="36576" marB="36576" anchor="ctr">
                    <a:solidFill>
                      <a:srgbClr val="FFFFFF"/>
                    </a:solidFill>
                  </a:tcPr>
                </a:tc>
                <a:tc>
                  <a:txBody>
                    <a:bodyPr wrap="square"/>
                    <a:lstStyle/>
                    <a:p>
                      <a:r>
                        <a:rPr sz="1200" b="0">
                          <a:solidFill>
                            <a:srgbClr val="36454F"/>
                          </a:solidFill>
                          <a:latin typeface="Calibri"/>
                        </a:rPr>
                        <a:t>Checklist / runbook</a:t>
                      </a:r>
                    </a:p>
                  </a:txBody>
                  <a:tcPr marL="73152" marR="73152" marT="36576" marB="36576" anchor="ctr">
                    <a:solidFill>
                      <a:srgbClr val="FFFFFF"/>
                    </a:solidFill>
                  </a:tcPr>
                </a:tc>
                <a:tc>
                  <a:txBody>
                    <a:bodyPr wrap="square"/>
                    <a:lstStyle/>
                    <a:p>
                      <a:r>
                        <a:rPr sz="1200" b="0">
                          <a:solidFill>
                            <a:srgbClr val="36454F"/>
                          </a:solidFill>
                          <a:latin typeface="Calibri"/>
                        </a:rPr>
                        <a:t>Specialist's handbook</a:t>
                      </a:r>
                    </a:p>
                  </a:txBody>
                  <a:tcPr marL="73152" marR="73152" marT="36576" marB="36576" anchor="ctr">
                    <a:solidFill>
                      <a:srgbClr val="FFFFFF"/>
                    </a:solidFill>
                  </a:tcPr>
                </a:tc>
                <a:tc>
                  <a:txBody>
                    <a:bodyPr wrap="square"/>
                    <a:lstStyle/>
                    <a:p>
                      <a:r>
                        <a:rPr sz="1200" b="0">
                          <a:solidFill>
                            <a:srgbClr val="36454F"/>
                          </a:solidFill>
                          <a:latin typeface="Calibri"/>
                        </a:rPr>
                        <a:t>Colleague in a role</a:t>
                      </a:r>
                    </a:p>
                  </a:txBody>
                  <a:tcPr marL="73152" marR="73152" marT="36576" marB="36576" anchor="ctr">
                    <a:solidFill>
                      <a:srgbClr val="FFFFFF"/>
                    </a:solidFill>
                  </a:tcPr>
                </a:tc>
              </a:tr>
            </a:tbl>
          </a:graphicData>
        </a:graphic>
      </p:graphicFrame>
      <p:sp>
        <p:nvSpPr>
          <p:cNvPr id="9" name="TextBox 26"/>
          <p:cNvSpPr txBox="1"/>
          <p:nvPr/>
        </p:nvSpPr>
        <p:spPr>
          <a:xfrm>
            <a:off x="457200" y="3749039"/>
            <a:ext cx="8229600" cy="457200"/>
          </a:xfrm>
          <a:prstGeom prst="rect">
            <a:avLst/>
          </a:prstGeom>
          <a:noFill/>
        </p:spPr>
        <p:txBody>
          <a:bodyPr wrap="square" anchor="ctr" lIns="45720" rIns="45720">
            <a:spAutoFit/>
          </a:bodyPr>
          <a:lstStyle/>
          <a:p>
            <a:pPr>
              <a:spcAft>
                <a:spcPts val="200"/>
              </a:spcAft>
            </a:pPr>
            <a:r>
              <a:rPr sz="1500" b="1">
                <a:solidFill>
                  <a:srgbClr val="1E2761"/>
                </a:solidFill>
                <a:latin typeface="Calibri"/>
              </a:rPr>
              <a:t>Instructions are always on  ·  You run prompts  ·  The AI picks up skills  ·  You choose an agent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What Is an Instruction?</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11</a:t>
            </a:fld>
            <a:endParaRPr lang="en-US"/>
          </a:p>
        </p:txBody>
      </p:sp>
      <p:sp>
        <p:nvSpPr>
          <p:cNvPr id="6" name="TextBox 25"/>
          <p:cNvSpPr txBox="1"/>
          <p:nvPr/>
        </p:nvSpPr>
        <p:spPr>
          <a:xfrm>
            <a:off x="457200" y="914400"/>
            <a:ext cx="4297680" cy="3383280"/>
          </a:xfrm>
          <a:prstGeom prst="rect">
            <a:avLst/>
          </a:prstGeom>
          <a:noFill/>
        </p:spPr>
        <p:txBody>
          <a:bodyPr wrap="square" anchor="t" lIns="45720" rIns="45720">
            <a:spAutoFit/>
          </a:bodyPr>
          <a:lstStyle/>
          <a:p>
            <a:pPr>
              <a:spcAft>
                <a:spcPts val="200"/>
              </a:spcAft>
            </a:pPr>
            <a:r>
              <a:rPr sz="1300" b="1">
                <a:solidFill>
                  <a:srgbClr val="1E2761"/>
                </a:solidFill>
                <a:latin typeface="Calibri"/>
              </a:rPr>
              <a:t>What it is</a:t>
            </a:r>
          </a:p>
          <a:p>
            <a:pPr>
              <a:spcAft>
                <a:spcPts val="200"/>
              </a:spcAft>
            </a:pPr>
            <a:r>
              <a:rPr sz="1200" b="0">
                <a:solidFill>
                  <a:srgbClr val="36454F"/>
                </a:solidFill>
                <a:latin typeface="Calibri"/>
              </a:rPr>
              <a:t>Standing rules added to the AI's context without you asking. copilot-instructions.md applies to every chat; each *.instructions.md applies only to files matching its applyTo pattern.</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Why it helps</a:t>
            </a:r>
          </a:p>
          <a:p>
            <a:pPr>
              <a:spcAft>
                <a:spcPts val="200"/>
              </a:spcAft>
            </a:pPr>
            <a:r>
              <a:rPr sz="1200" b="0">
                <a:solidFill>
                  <a:srgbClr val="36454F"/>
                </a:solidFill>
                <a:latin typeface="Calibri"/>
              </a:rPr>
              <a:t>You never remind the AI about ZRK_ naming, released APIs or ABAP Unit tests. The rule is simply always there.</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Example</a:t>
            </a:r>
          </a:p>
          <a:p>
            <a:pPr>
              <a:spcAft>
                <a:spcPts val="200"/>
              </a:spcAft>
            </a:pPr>
            <a:r>
              <a:rPr sz="1200" b="0">
                <a:solidFill>
                  <a:srgbClr val="36454F"/>
                </a:solidFill>
                <a:latin typeface="Calibri"/>
              </a:rPr>
              <a:t>Open a .abap file: the Clean ABAP and performance rules apply. Open a CDS .asddls file: the RAP, performance and Fiori annotation rules apply.</a:t>
            </a:r>
          </a:p>
        </p:txBody>
      </p:sp>
      <p:sp>
        <p:nvSpPr>
          <p:cNvPr id="7" name="TextBox 26"/>
          <p:cNvSpPr txBox="1"/>
          <p:nvPr/>
        </p:nvSpPr>
        <p:spPr>
          <a:xfrm>
            <a:off x="4983480" y="914400"/>
            <a:ext cx="3703320" cy="274320"/>
          </a:xfrm>
          <a:prstGeom prst="rect">
            <a:avLst/>
          </a:prstGeom>
          <a:noFill/>
        </p:spPr>
        <p:txBody>
          <a:bodyPr wrap="square" anchor="t" lIns="45720" rIns="45720">
            <a:spAutoFit/>
          </a:bodyPr>
          <a:lstStyle/>
          <a:p>
            <a:pPr>
              <a:spcAft>
                <a:spcPts val="200"/>
              </a:spcAft>
            </a:pPr>
            <a:r>
              <a:rPr sz="1200" b="1">
                <a:solidFill>
                  <a:srgbClr val="1E2761"/>
                </a:solidFill>
                <a:latin typeface="Calibri"/>
              </a:rPr>
              <a:t>In this repo: instructions/clean-abap.instructions.md</a:t>
            </a:r>
          </a:p>
        </p:txBody>
      </p:sp>
      <p:sp>
        <p:nvSpPr>
          <p:cNvPr id="8" name="Rectangle 27"/>
          <p:cNvSpPr/>
          <p:nvPr/>
        </p:nvSpPr>
        <p:spPr>
          <a:xfrm>
            <a:off x="4983480" y="1234440"/>
            <a:ext cx="3703320" cy="2331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l"/>
            <a:r>
              <a:rPr sz="1200" b="0">
                <a:solidFill>
                  <a:srgbClr val="1E2761"/>
                </a:solidFill>
                <a:latin typeface="Consolas"/>
              </a:rPr>
              <a:t>---</a:t>
            </a:r>
          </a:p>
          <a:p>
            <a:pPr algn="l"/>
            <a:r>
              <a:rPr sz="1200" b="0">
                <a:solidFill>
                  <a:srgbClr val="36454F"/>
                </a:solidFill>
                <a:latin typeface="Consolas"/>
              </a:rPr>
              <a:t>description: "Use when writing,</a:t>
            </a:r>
          </a:p>
          <a:p>
            <a:pPr algn="l"/>
            <a:r>
              <a:rPr sz="1200" b="0">
                <a:solidFill>
                  <a:srgbClr val="36454F"/>
                </a:solidFill>
                <a:latin typeface="Consolas"/>
              </a:rPr>
              <a:t>  reviewing, or refactoring ABAP</a:t>
            </a:r>
          </a:p>
          <a:p>
            <a:pPr algn="l"/>
            <a:r>
              <a:rPr sz="1200" b="0">
                <a:solidFill>
                  <a:srgbClr val="36454F"/>
                </a:solidFill>
                <a:latin typeface="Consolas"/>
              </a:rPr>
              <a:t>  classes, methods, or programs..."</a:t>
            </a:r>
          </a:p>
          <a:p>
            <a:pPr algn="l"/>
            <a:r>
              <a:rPr sz="1200" b="0">
                <a:solidFill>
                  <a:srgbClr val="36454F"/>
                </a:solidFill>
                <a:latin typeface="Consolas"/>
              </a:rPr>
              <a:t>applyTo: "**/*.abap"</a:t>
            </a:r>
          </a:p>
          <a:p>
            <a:pPr algn="l"/>
            <a:r>
              <a:rPr sz="1200" b="0">
                <a:solidFill>
                  <a:srgbClr val="1E2761"/>
                </a:solidFill>
                <a:latin typeface="Consolas"/>
              </a:rPr>
              <a:t>---</a:t>
            </a:r>
          </a:p>
          <a:p>
            <a:pPr algn="l"/>
            <a:r>
              <a:rPr sz="1200" b="0">
                <a:solidFill>
                  <a:srgbClr val="1E2761"/>
                </a:solidFill>
                <a:latin typeface="Consolas"/>
              </a:rPr>
              <a:t># Clean ABAP</a:t>
            </a:r>
          </a:p>
          <a:p>
            <a:pPr algn="l"/>
            <a:r>
              <a:rPr sz="1200" b="0">
                <a:solidFill>
                  <a:srgbClr val="36454F"/>
                </a:solidFill>
                <a:latin typeface="Consolas"/>
              </a:rPr>
              <a:t>...</a:t>
            </a:r>
          </a:p>
        </p:txBody>
      </p:sp>
      <p:sp>
        <p:nvSpPr>
          <p:cNvPr id="9" name="Rectangle 28"/>
          <p:cNvSpPr/>
          <p:nvPr/>
        </p:nvSpPr>
        <p:spPr>
          <a:xfrm>
            <a:off x="4983480" y="3703320"/>
            <a:ext cx="37033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200" b="1">
                <a:solidFill>
                  <a:srgbClr val="1E2761"/>
                </a:solidFill>
                <a:latin typeface="Calibri"/>
              </a:rPr>
              <a:t>You do: </a:t>
            </a:r>
            <a:r>
              <a:rPr sz="1200" b="0">
                <a:solidFill>
                  <a:srgbClr val="1E2761"/>
                </a:solidFill>
                <a:latin typeface="Calibri"/>
              </a:rPr>
              <a:t>Nothing. Just work: the rules follow the file you're 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What Is a Prompt?</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11</a:t>
            </a:fld>
            <a:endParaRPr lang="en-US"/>
          </a:p>
        </p:txBody>
      </p:sp>
      <p:sp>
        <p:nvSpPr>
          <p:cNvPr id="6" name="TextBox 25"/>
          <p:cNvSpPr txBox="1"/>
          <p:nvPr/>
        </p:nvSpPr>
        <p:spPr>
          <a:xfrm>
            <a:off x="457200" y="914400"/>
            <a:ext cx="4297680" cy="3383280"/>
          </a:xfrm>
          <a:prstGeom prst="rect">
            <a:avLst/>
          </a:prstGeom>
          <a:noFill/>
        </p:spPr>
        <p:txBody>
          <a:bodyPr wrap="square" anchor="t" lIns="45720" rIns="45720">
            <a:spAutoFit/>
          </a:bodyPr>
          <a:lstStyle/>
          <a:p>
            <a:pPr>
              <a:spcAft>
                <a:spcPts val="200"/>
              </a:spcAft>
            </a:pPr>
            <a:r>
              <a:rPr sz="1300" b="1">
                <a:solidFill>
                  <a:srgbClr val="1E2761"/>
                </a:solidFill>
                <a:latin typeface="Calibri"/>
              </a:rPr>
              <a:t>What it is</a:t>
            </a:r>
          </a:p>
          <a:p>
            <a:pPr>
              <a:spcAft>
                <a:spcPts val="200"/>
              </a:spcAft>
            </a:pPr>
            <a:r>
              <a:rPr sz="1200" b="0">
                <a:solidFill>
                  <a:srgbClr val="36454F"/>
                </a:solidFill>
                <a:latin typeface="Calibri"/>
              </a:rPr>
              <a:t>A saved, step-by-step task you run on demand. It asks for its input (an object, a transport, a dump) and follows a fixed, tested procedure.</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Why it helps</a:t>
            </a:r>
          </a:p>
          <a:p>
            <a:pPr>
              <a:spcAft>
                <a:spcPts val="200"/>
              </a:spcAft>
            </a:pPr>
            <a:r>
              <a:rPr sz="1200" b="0">
                <a:solidFill>
                  <a:srgbClr val="36454F"/>
                </a:solidFill>
                <a:latin typeface="Calibri"/>
              </a:rPr>
              <a:t>Best practice written down once and used by everyone. No long prompts typed from memory; the same steps and the same quality for every developer.</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Example</a:t>
            </a:r>
          </a:p>
          <a:p>
            <a:pPr>
              <a:spcAft>
                <a:spcPts val="200"/>
              </a:spcAft>
            </a:pPr>
            <a:r>
              <a:rPr sz="1200" b="0">
                <a:solidFill>
                  <a:srgbClr val="36454F"/>
                </a:solidFill>
                <a:latin typeface="Calibri"/>
              </a:rPr>
              <a:t>/pre-transport-check A4HK900123: inventory, ATC, unit tests, $TMP leftovers, non-released dependencies, then a go / no-go.</a:t>
            </a:r>
          </a:p>
        </p:txBody>
      </p:sp>
      <p:sp>
        <p:nvSpPr>
          <p:cNvPr id="7" name="TextBox 26"/>
          <p:cNvSpPr txBox="1"/>
          <p:nvPr/>
        </p:nvSpPr>
        <p:spPr>
          <a:xfrm>
            <a:off x="4983480" y="914400"/>
            <a:ext cx="3703320" cy="274320"/>
          </a:xfrm>
          <a:prstGeom prst="rect">
            <a:avLst/>
          </a:prstGeom>
          <a:noFill/>
        </p:spPr>
        <p:txBody>
          <a:bodyPr wrap="square" anchor="t" lIns="45720" rIns="45720">
            <a:spAutoFit/>
          </a:bodyPr>
          <a:lstStyle/>
          <a:p>
            <a:pPr>
              <a:spcAft>
                <a:spcPts val="200"/>
              </a:spcAft>
            </a:pPr>
            <a:r>
              <a:rPr sz="1200" b="1">
                <a:solidFill>
                  <a:srgbClr val="1E2761"/>
                </a:solidFill>
                <a:latin typeface="Calibri"/>
              </a:rPr>
              <a:t>In this repo: prompts/pre-transport-check.prompt.md</a:t>
            </a:r>
          </a:p>
        </p:txBody>
      </p:sp>
      <p:sp>
        <p:nvSpPr>
          <p:cNvPr id="8" name="Rectangle 27"/>
          <p:cNvSpPr/>
          <p:nvPr/>
        </p:nvSpPr>
        <p:spPr>
          <a:xfrm>
            <a:off x="4983480" y="1234440"/>
            <a:ext cx="3703320" cy="2331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l"/>
            <a:r>
              <a:rPr sz="1200" b="0">
                <a:solidFill>
                  <a:srgbClr val="1E2761"/>
                </a:solidFill>
                <a:latin typeface="Consolas"/>
              </a:rPr>
              <a:t>---</a:t>
            </a:r>
          </a:p>
          <a:p>
            <a:pPr algn="l"/>
            <a:r>
              <a:rPr sz="1200" b="0">
                <a:solidFill>
                  <a:srgbClr val="36454F"/>
                </a:solidFill>
                <a:latin typeface="Consolas"/>
              </a:rPr>
              <a:t>description: "Gate a transport</a:t>
            </a:r>
          </a:p>
          <a:p>
            <a:pPr algn="l"/>
            <a:r>
              <a:rPr sz="1200" b="0">
                <a:solidFill>
                  <a:srgbClr val="36454F"/>
                </a:solidFill>
                <a:latin typeface="Consolas"/>
              </a:rPr>
              <a:t>  before release..."</a:t>
            </a:r>
          </a:p>
          <a:p>
            <a:pPr algn="l"/>
            <a:r>
              <a:rPr sz="1200" b="0">
                <a:solidFill>
                  <a:srgbClr val="36454F"/>
                </a:solidFill>
                <a:latin typeface="Consolas"/>
              </a:rPr>
              <a:t>agent: "agent"</a:t>
            </a:r>
          </a:p>
          <a:p>
            <a:pPr algn="l"/>
            <a:r>
              <a:rPr sz="1200" b="0">
                <a:solidFill>
                  <a:srgbClr val="36454F"/>
                </a:solidFill>
                <a:latin typeface="Consolas"/>
              </a:rPr>
              <a:t>argument-hint: "Transport request"</a:t>
            </a:r>
          </a:p>
          <a:p>
            <a:pPr algn="l"/>
            <a:r>
              <a:rPr sz="1200" b="0">
                <a:solidFill>
                  <a:srgbClr val="1E2761"/>
                </a:solidFill>
                <a:latin typeface="Consolas"/>
              </a:rPr>
              <a:t>---</a:t>
            </a:r>
          </a:p>
          <a:p>
            <a:pPr algn="l"/>
            <a:r>
              <a:rPr sz="1200" b="0">
                <a:solidFill>
                  <a:srgbClr val="36454F"/>
                </a:solidFill>
                <a:latin typeface="Consolas"/>
              </a:rPr>
              <a:t>Run the pre-release gate for</a:t>
            </a:r>
          </a:p>
          <a:p>
            <a:pPr algn="l"/>
            <a:r>
              <a:rPr sz="1200" b="0">
                <a:solidFill>
                  <a:srgbClr val="36454F"/>
                </a:solidFill>
                <a:latin typeface="Consolas"/>
              </a:rPr>
              <a:t>transport: ${input:transport}</a:t>
            </a:r>
          </a:p>
        </p:txBody>
      </p:sp>
      <p:sp>
        <p:nvSpPr>
          <p:cNvPr id="9" name="Rectangle 28"/>
          <p:cNvSpPr/>
          <p:nvPr/>
        </p:nvSpPr>
        <p:spPr>
          <a:xfrm>
            <a:off x="4983480" y="3703320"/>
            <a:ext cx="37033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200" b="1">
                <a:solidFill>
                  <a:srgbClr val="1E2761"/>
                </a:solidFill>
                <a:latin typeface="Calibri"/>
              </a:rPr>
              <a:t>You do: </a:t>
            </a:r>
            <a:r>
              <a:rPr sz="1200" b="0">
                <a:solidFill>
                  <a:srgbClr val="1E2761"/>
                </a:solidFill>
                <a:latin typeface="Calibri"/>
              </a:rPr>
              <a:t>Type / in Copilot Chat, pick the prompt, give the input.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What Is a Skill?</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11</a:t>
            </a:fld>
            <a:endParaRPr lang="en-US"/>
          </a:p>
        </p:txBody>
      </p:sp>
      <p:sp>
        <p:nvSpPr>
          <p:cNvPr id="6" name="TextBox 25"/>
          <p:cNvSpPr txBox="1"/>
          <p:nvPr/>
        </p:nvSpPr>
        <p:spPr>
          <a:xfrm>
            <a:off x="457200" y="914400"/>
            <a:ext cx="4297680" cy="3383280"/>
          </a:xfrm>
          <a:prstGeom prst="rect">
            <a:avLst/>
          </a:prstGeom>
          <a:noFill/>
        </p:spPr>
        <p:txBody>
          <a:bodyPr wrap="square" anchor="t" lIns="45720" rIns="45720">
            <a:spAutoFit/>
          </a:bodyPr>
          <a:lstStyle/>
          <a:p>
            <a:pPr>
              <a:spcAft>
                <a:spcPts val="200"/>
              </a:spcAft>
            </a:pPr>
            <a:r>
              <a:rPr sz="1300" b="1">
                <a:solidFill>
                  <a:srgbClr val="1E2761"/>
                </a:solidFill>
                <a:latin typeface="Calibri"/>
              </a:rPr>
              <a:t>What it is</a:t>
            </a:r>
          </a:p>
          <a:p>
            <a:pPr>
              <a:spcAft>
                <a:spcPts val="200"/>
              </a:spcAft>
            </a:pPr>
            <a:r>
              <a:rPr sz="1200" b="0">
                <a:solidFill>
                  <a:srgbClr val="36454F"/>
                </a:solidFill>
                <a:latin typeface="Calibri"/>
              </a:rPr>
              <a:t>A folder with a SKILL.md: deep know-how for one kind of deliverable, linked to reference/ and templates/. The AI first sees only its name and description, and loads the rest when your request matches.</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Why it helps</a:t>
            </a:r>
          </a:p>
          <a:p>
            <a:pPr>
              <a:spcAft>
                <a:spcPts val="200"/>
              </a:spcAft>
            </a:pPr>
            <a:r>
              <a:rPr sz="1200" b="0">
                <a:solidFill>
                  <a:srgbClr val="36454F"/>
                </a:solidFill>
                <a:latin typeface="Calibri"/>
              </a:rPr>
              <a:t>Lots of expertise is available without cluttering every chat, and deliverables come out in the team's standard format.</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Example</a:t>
            </a:r>
          </a:p>
          <a:p>
            <a:pPr>
              <a:spcAft>
                <a:spcPts val="200"/>
              </a:spcAft>
            </a:pPr>
            <a:r>
              <a:rPr sz="1200" b="0">
                <a:solidFill>
                  <a:srgbClr val="36454F"/>
                </a:solidFill>
                <a:latin typeface="Calibri"/>
              </a:rPr>
              <a:t>"Review this functional spec for the billing block": functional-spec-reviewer checks it against standard SAP and S/4 red flags, then fills fs-review-report.md.</a:t>
            </a:r>
          </a:p>
        </p:txBody>
      </p:sp>
      <p:sp>
        <p:nvSpPr>
          <p:cNvPr id="7" name="TextBox 26"/>
          <p:cNvSpPr txBox="1"/>
          <p:nvPr/>
        </p:nvSpPr>
        <p:spPr>
          <a:xfrm>
            <a:off x="4983480" y="914400"/>
            <a:ext cx="3703320" cy="274320"/>
          </a:xfrm>
          <a:prstGeom prst="rect">
            <a:avLst/>
          </a:prstGeom>
          <a:noFill/>
        </p:spPr>
        <p:txBody>
          <a:bodyPr wrap="square" anchor="t" lIns="45720" rIns="45720">
            <a:spAutoFit/>
          </a:bodyPr>
          <a:lstStyle/>
          <a:p>
            <a:pPr>
              <a:spcAft>
                <a:spcPts val="200"/>
              </a:spcAft>
            </a:pPr>
            <a:r>
              <a:rPr sz="1200" b="1">
                <a:solidFill>
                  <a:srgbClr val="1E2761"/>
                </a:solidFill>
                <a:latin typeface="Calibri"/>
              </a:rPr>
              <a:t>In this repo: skills/functional-spec-reviewer/SKILL.md</a:t>
            </a:r>
          </a:p>
        </p:txBody>
      </p:sp>
      <p:sp>
        <p:nvSpPr>
          <p:cNvPr id="8" name="Rectangle 27"/>
          <p:cNvSpPr/>
          <p:nvPr/>
        </p:nvSpPr>
        <p:spPr>
          <a:xfrm>
            <a:off x="4983480" y="1234440"/>
            <a:ext cx="3703320" cy="2331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l"/>
            <a:r>
              <a:rPr sz="1200" b="0">
                <a:solidFill>
                  <a:srgbClr val="1E2761"/>
                </a:solidFill>
                <a:latin typeface="Consolas"/>
              </a:rPr>
              <a:t>---</a:t>
            </a:r>
          </a:p>
          <a:p>
            <a:pPr algn="l"/>
            <a:r>
              <a:rPr sz="1200" b="0">
                <a:solidFill>
                  <a:srgbClr val="36454F"/>
                </a:solidFill>
                <a:latin typeface="Consolas"/>
              </a:rPr>
              <a:t>name: functional-spec-reviewer</a:t>
            </a:r>
          </a:p>
          <a:p>
            <a:pPr algn="l"/>
            <a:r>
              <a:rPr sz="1200" b="0">
                <a:solidFill>
                  <a:srgbClr val="36454F"/>
                </a:solidFill>
                <a:latin typeface="Consolas"/>
              </a:rPr>
              <a:t>description: Use to review a</a:t>
            </a:r>
          </a:p>
          <a:p>
            <a:pPr algn="l"/>
            <a:r>
              <a:rPr sz="1200" b="0">
                <a:solidFill>
                  <a:srgbClr val="36454F"/>
                </a:solidFill>
                <a:latin typeface="Consolas"/>
              </a:rPr>
              <a:t>  Functional Specification</a:t>
            </a:r>
          </a:p>
          <a:p>
            <a:pPr algn="l"/>
            <a:r>
              <a:rPr sz="1200" b="0">
                <a:solidFill>
                  <a:srgbClr val="36454F"/>
                </a:solidFill>
                <a:latin typeface="Consolas"/>
              </a:rPr>
              <a:t>  written by someone else...</a:t>
            </a:r>
          </a:p>
          <a:p>
            <a:pPr algn="l"/>
            <a:r>
              <a:rPr sz="1200" b="0">
                <a:solidFill>
                  <a:srgbClr val="1E2761"/>
                </a:solidFill>
                <a:latin typeface="Consolas"/>
              </a:rPr>
              <a:t>---</a:t>
            </a:r>
          </a:p>
          <a:p>
            <a:pPr algn="l"/>
            <a:r>
              <a:rPr sz="1200" b="0">
                <a:solidFill>
                  <a:srgbClr val="1E2761"/>
                </a:solidFill>
                <a:latin typeface="Consolas"/>
              </a:rPr>
              <a:t># Functional Spec Reviewer</a:t>
            </a:r>
          </a:p>
          <a:p>
            <a:pPr algn="l"/>
            <a:r>
              <a:rPr sz="1200" b="0">
                <a:solidFill>
                  <a:srgbClr val="36454F"/>
                </a:solidFill>
                <a:latin typeface="Consolas"/>
              </a:rPr>
              <a:t>...</a:t>
            </a:r>
          </a:p>
        </p:txBody>
      </p:sp>
      <p:sp>
        <p:nvSpPr>
          <p:cNvPr id="9" name="Rectangle 28"/>
          <p:cNvSpPr/>
          <p:nvPr/>
        </p:nvSpPr>
        <p:spPr>
          <a:xfrm>
            <a:off x="4983480" y="3703320"/>
            <a:ext cx="37033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200" b="1">
                <a:solidFill>
                  <a:srgbClr val="1E2761"/>
                </a:solidFill>
                <a:latin typeface="Calibri"/>
              </a:rPr>
              <a:t>You do: </a:t>
            </a:r>
            <a:r>
              <a:rPr sz="1200" b="0">
                <a:solidFill>
                  <a:srgbClr val="1E2761"/>
                </a:solidFill>
                <a:latin typeface="Calibri"/>
              </a:rPr>
              <a:t>Describe the task in plain words. A skill whose description matches is used automatically.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What Is an Agent?</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11</a:t>
            </a:fld>
            <a:endParaRPr lang="en-US"/>
          </a:p>
        </p:txBody>
      </p:sp>
      <p:sp>
        <p:nvSpPr>
          <p:cNvPr id="6" name="TextBox 25"/>
          <p:cNvSpPr txBox="1"/>
          <p:nvPr/>
        </p:nvSpPr>
        <p:spPr>
          <a:xfrm>
            <a:off x="457200" y="914400"/>
            <a:ext cx="4297680" cy="3383280"/>
          </a:xfrm>
          <a:prstGeom prst="rect">
            <a:avLst/>
          </a:prstGeom>
          <a:noFill/>
        </p:spPr>
        <p:txBody>
          <a:bodyPr wrap="square" anchor="t" lIns="45720" rIns="45720">
            <a:spAutoFit/>
          </a:bodyPr>
          <a:lstStyle/>
          <a:p>
            <a:pPr>
              <a:spcAft>
                <a:spcPts val="200"/>
              </a:spcAft>
            </a:pPr>
            <a:r>
              <a:rPr sz="1300" b="1">
                <a:solidFill>
                  <a:srgbClr val="1E2761"/>
                </a:solidFill>
                <a:latin typeface="Calibri"/>
              </a:rPr>
              <a:t>What it is</a:t>
            </a:r>
          </a:p>
          <a:p>
            <a:pPr>
              <a:spcAft>
                <a:spcPts val="200"/>
              </a:spcAft>
            </a:pPr>
            <a:r>
              <a:rPr sz="1200" b="0">
                <a:solidFill>
                  <a:srgbClr val="36454F"/>
                </a:solidFill>
                <a:latin typeface="Calibri"/>
              </a:rPr>
              <a:t>A chat mode with a role, a restricted tool set, and handoffs to other agents. Once picked, it stays in that role for the whole conversation.</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Why it helps</a:t>
            </a:r>
          </a:p>
          <a:p>
            <a:pPr>
              <a:spcAft>
                <a:spcPts val="200"/>
              </a:spcAft>
            </a:pPr>
            <a:r>
              <a:rPr sz="1200" b="0">
                <a:solidFill>
                  <a:srgbClr val="36454F"/>
                </a:solidFill>
                <a:latin typeface="Calibri"/>
              </a:rPr>
              <a:t>Separation of duties, like our team: the architect and reviewer can only read; the developer writes only after you confirm. Handoff buttons pass the work on with context.</a:t>
            </a:r>
          </a:p>
          <a:p>
            <a:pPr>
              <a:spcAft>
                <a:spcPts val="200"/>
              </a:spcAft>
            </a:pPr>
            <a:r>
              <a:rPr sz="600" b="0">
                <a:solidFill>
                  <a:srgbClr val="36454F"/>
                </a:solidFill>
                <a:latin typeface="Calibri"/>
              </a:rPr>
              <a:t/>
            </a:r>
          </a:p>
          <a:p>
            <a:pPr>
              <a:spcAft>
                <a:spcPts val="200"/>
              </a:spcAft>
            </a:pPr>
            <a:r>
              <a:rPr sz="1300" b="1">
                <a:solidFill>
                  <a:srgbClr val="1E2761"/>
                </a:solidFill>
                <a:latin typeface="Calibri"/>
              </a:rPr>
              <a:t>Example</a:t>
            </a:r>
          </a:p>
          <a:p>
            <a:pPr>
              <a:spcAft>
                <a:spcPts val="200"/>
              </a:spcAft>
            </a:pPr>
            <a:r>
              <a:rPr sz="1200" b="0">
                <a:solidFill>
                  <a:srgbClr val="36454F"/>
                </a:solidFill>
                <a:latin typeface="Calibri"/>
              </a:rPr>
              <a:t>abap-architect, then "Build this design" to abap-senior-developer, then "Review my changes" to abap-clean-code-reviewer.</a:t>
            </a:r>
          </a:p>
        </p:txBody>
      </p:sp>
      <p:sp>
        <p:nvSpPr>
          <p:cNvPr id="7" name="TextBox 26"/>
          <p:cNvSpPr txBox="1"/>
          <p:nvPr/>
        </p:nvSpPr>
        <p:spPr>
          <a:xfrm>
            <a:off x="4983480" y="914400"/>
            <a:ext cx="3703320" cy="274320"/>
          </a:xfrm>
          <a:prstGeom prst="rect">
            <a:avLst/>
          </a:prstGeom>
          <a:noFill/>
        </p:spPr>
        <p:txBody>
          <a:bodyPr wrap="square" anchor="t" lIns="45720" rIns="45720">
            <a:spAutoFit/>
          </a:bodyPr>
          <a:lstStyle/>
          <a:p>
            <a:pPr>
              <a:spcAft>
                <a:spcPts val="200"/>
              </a:spcAft>
            </a:pPr>
            <a:r>
              <a:rPr sz="1200" b="1">
                <a:solidFill>
                  <a:srgbClr val="1E2761"/>
                </a:solidFill>
                <a:latin typeface="Calibri"/>
              </a:rPr>
              <a:t>In this repo: agents/abap-architect.agent.md</a:t>
            </a:r>
          </a:p>
        </p:txBody>
      </p:sp>
      <p:sp>
        <p:nvSpPr>
          <p:cNvPr id="8" name="Rectangle 27"/>
          <p:cNvSpPr/>
          <p:nvPr/>
        </p:nvSpPr>
        <p:spPr>
          <a:xfrm>
            <a:off x="4983480" y="1234440"/>
            <a:ext cx="3703320" cy="2331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a:lstStyle/>
          <a:p>
            <a:pPr algn="l"/>
            <a:r>
              <a:rPr sz="1200" b="0">
                <a:solidFill>
                  <a:srgbClr val="1E2761"/>
                </a:solidFill>
                <a:latin typeface="Consolas"/>
              </a:rPr>
              <a:t>---</a:t>
            </a:r>
          </a:p>
          <a:p>
            <a:pPr algn="l"/>
            <a:r>
              <a:rPr sz="1200" b="0">
                <a:solidFill>
                  <a:srgbClr val="36454F"/>
                </a:solidFill>
                <a:latin typeface="Consolas"/>
              </a:rPr>
              <a:t>description: "Use when a</a:t>
            </a:r>
          </a:p>
          <a:p>
            <a:pPr algn="l"/>
            <a:r>
              <a:rPr sz="1200" b="0">
                <a:solidFill>
                  <a:srgbClr val="36454F"/>
                </a:solidFill>
                <a:latin typeface="Consolas"/>
              </a:rPr>
              <a:t>  requirement needs a design..."</a:t>
            </a:r>
          </a:p>
          <a:p>
            <a:pPr algn="l"/>
            <a:r>
              <a:rPr sz="1200" b="0">
                <a:solidFill>
                  <a:srgbClr val="36454F"/>
                </a:solidFill>
                <a:latin typeface="Consolas"/>
              </a:rPr>
              <a:t>tools: [read, search, ...]</a:t>
            </a:r>
          </a:p>
          <a:p>
            <a:pPr algn="l"/>
            <a:r>
              <a:rPr sz="1200" b="0">
                <a:solidFill>
                  <a:srgbClr val="36454F"/>
                </a:solidFill>
                <a:latin typeface="Consolas"/>
              </a:rPr>
              <a:t>  # no write tools</a:t>
            </a:r>
          </a:p>
          <a:p>
            <a:pPr algn="l"/>
            <a:r>
              <a:rPr sz="1200" b="0">
                <a:solidFill>
                  <a:srgbClr val="36454F"/>
                </a:solidFill>
                <a:latin typeface="Consolas"/>
              </a:rPr>
              <a:t>handoffs:</a:t>
            </a:r>
          </a:p>
          <a:p>
            <a:pPr algn="l"/>
            <a:r>
              <a:rPr sz="1200" b="0">
                <a:solidFill>
                  <a:srgbClr val="36454F"/>
                </a:solidFill>
                <a:latin typeface="Consolas"/>
              </a:rPr>
              <a:t>  - label: Build this design</a:t>
            </a:r>
          </a:p>
          <a:p>
            <a:pPr algn="l"/>
            <a:r>
              <a:rPr sz="1200" b="0">
                <a:solidFill>
                  <a:srgbClr val="36454F"/>
                </a:solidFill>
                <a:latin typeface="Consolas"/>
              </a:rPr>
              <a:t>    agent: abap-senior-developer</a:t>
            </a:r>
          </a:p>
          <a:p>
            <a:pPr algn="l"/>
            <a:r>
              <a:rPr sz="1200" b="0">
                <a:solidFill>
                  <a:srgbClr val="1E2761"/>
                </a:solidFill>
                <a:latin typeface="Consolas"/>
              </a:rPr>
              <a:t>---</a:t>
            </a:r>
          </a:p>
        </p:txBody>
      </p:sp>
      <p:sp>
        <p:nvSpPr>
          <p:cNvPr id="9" name="Rectangle 28"/>
          <p:cNvSpPr/>
          <p:nvPr/>
        </p:nvSpPr>
        <p:spPr>
          <a:xfrm>
            <a:off x="4983480" y="3703320"/>
            <a:ext cx="37033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200" b="1">
                <a:solidFill>
                  <a:srgbClr val="1E2761"/>
                </a:solidFill>
                <a:latin typeface="Calibri"/>
              </a:rPr>
              <a:t>You do: </a:t>
            </a:r>
            <a:r>
              <a:rPr sz="1200" b="0">
                <a:solidFill>
                  <a:srgbClr val="1E2761"/>
                </a:solidFill>
                <a:latin typeface="Calibri"/>
              </a:rPr>
              <a:t>Pick the agent from the agent dropdown in Copilot Chat.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How They Work Together</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11</a:t>
            </a:fld>
            <a:endParaRPr lang="en-US"/>
          </a:p>
        </p:txBody>
      </p:sp>
      <p:sp>
        <p:nvSpPr>
          <p:cNvPr id="6" name="Rounded Rectangle 25"/>
          <p:cNvSpPr/>
          <p:nvPr/>
        </p:nvSpPr>
        <p:spPr>
          <a:xfrm>
            <a:off x="457200" y="914400"/>
            <a:ext cx="4480560" cy="3429000"/>
          </a:xfrm>
          <a:prstGeom prst="roundRect">
            <a:avLst>
              <a:gd name="adj" fmla="val 6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26"/>
          <p:cNvSpPr txBox="1"/>
          <p:nvPr/>
        </p:nvSpPr>
        <p:spPr>
          <a:xfrm>
            <a:off x="566928" y="960120"/>
            <a:ext cx="4261104" cy="548640"/>
          </a:xfrm>
          <a:prstGeom prst="rect">
            <a:avLst/>
          </a:prstGeom>
          <a:noFill/>
        </p:spPr>
        <p:txBody>
          <a:bodyPr wrap="square" anchor="t" lIns="45720" rIns="45720">
            <a:spAutoFit/>
          </a:bodyPr>
          <a:lstStyle/>
          <a:p>
            <a:pPr>
              <a:spcAft>
                <a:spcPts val="200"/>
              </a:spcAft>
            </a:pPr>
            <a:r>
              <a:rPr sz="1300" b="1">
                <a:solidFill>
                  <a:srgbClr val="1E2761"/>
                </a:solidFill>
                <a:latin typeface="Calibri"/>
              </a:rPr>
              <a:t>Instructions: the rules, always applied</a:t>
            </a:r>
          </a:p>
          <a:p>
            <a:pPr>
              <a:spcAft>
                <a:spcPts val="200"/>
              </a:spcAft>
            </a:pPr>
            <a:r>
              <a:rPr sz="1200" b="0">
                <a:solidFill>
                  <a:srgbClr val="36454F"/>
                </a:solidFill>
                <a:latin typeface="Calibri"/>
              </a:rPr>
              <a:t>ZRK_ naming · Clean Core · ABAP Unit</a:t>
            </a:r>
          </a:p>
        </p:txBody>
      </p:sp>
      <p:sp>
        <p:nvSpPr>
          <p:cNvPr id="8" name="Rounded Rectangle 27"/>
          <p:cNvSpPr/>
          <p:nvPr/>
        </p:nvSpPr>
        <p:spPr>
          <a:xfrm>
            <a:off x="640080" y="1600200"/>
            <a:ext cx="4114800" cy="2606040"/>
          </a:xfrm>
          <a:prstGeom prst="roundRect">
            <a:avLst>
              <a:gd name="adj" fmla="val 6000"/>
            </a:avLst>
          </a:prstGeom>
          <a:solidFill>
            <a:srgbClr val="FFFFFF"/>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28"/>
          <p:cNvSpPr txBox="1"/>
          <p:nvPr/>
        </p:nvSpPr>
        <p:spPr>
          <a:xfrm>
            <a:off x="749808" y="1645920"/>
            <a:ext cx="3895344" cy="548640"/>
          </a:xfrm>
          <a:prstGeom prst="rect">
            <a:avLst/>
          </a:prstGeom>
          <a:noFill/>
        </p:spPr>
        <p:txBody>
          <a:bodyPr wrap="square" anchor="t" lIns="45720" rIns="45720">
            <a:spAutoFit/>
          </a:bodyPr>
          <a:lstStyle/>
          <a:p>
            <a:pPr>
              <a:spcAft>
                <a:spcPts val="200"/>
              </a:spcAft>
            </a:pPr>
            <a:r>
              <a:rPr sz="1300" b="1">
                <a:solidFill>
                  <a:srgbClr val="1E2761"/>
                </a:solidFill>
                <a:latin typeface="Calibri"/>
              </a:rPr>
              <a:t>Agent: who is working</a:t>
            </a:r>
          </a:p>
          <a:p>
            <a:pPr>
              <a:spcAft>
                <a:spcPts val="200"/>
              </a:spcAft>
            </a:pPr>
            <a:r>
              <a:rPr sz="1200" b="0">
                <a:solidFill>
                  <a:srgbClr val="36454F"/>
                </a:solidFill>
                <a:latin typeface="Calibri"/>
              </a:rPr>
              <a:t>abap-senior-developer</a:t>
            </a:r>
          </a:p>
        </p:txBody>
      </p:sp>
      <p:sp>
        <p:nvSpPr>
          <p:cNvPr id="10" name="Rounded Rectangle 29"/>
          <p:cNvSpPr/>
          <p:nvPr/>
        </p:nvSpPr>
        <p:spPr>
          <a:xfrm>
            <a:off x="822960" y="2286000"/>
            <a:ext cx="3749039" cy="1783080"/>
          </a:xfrm>
          <a:prstGeom prst="roundRect">
            <a:avLst>
              <a:gd name="adj" fmla="val 6000"/>
            </a:avLst>
          </a:prstGeom>
          <a:solidFill>
            <a:srgbClr val="F2F2F2"/>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30"/>
          <p:cNvSpPr txBox="1"/>
          <p:nvPr/>
        </p:nvSpPr>
        <p:spPr>
          <a:xfrm>
            <a:off x="932688" y="2331720"/>
            <a:ext cx="3529583" cy="548640"/>
          </a:xfrm>
          <a:prstGeom prst="rect">
            <a:avLst/>
          </a:prstGeom>
          <a:noFill/>
        </p:spPr>
        <p:txBody>
          <a:bodyPr wrap="square" anchor="t" lIns="45720" rIns="45720">
            <a:spAutoFit/>
          </a:bodyPr>
          <a:lstStyle/>
          <a:p>
            <a:pPr>
              <a:spcAft>
                <a:spcPts val="200"/>
              </a:spcAft>
            </a:pPr>
            <a:r>
              <a:rPr sz="1300" b="1">
                <a:solidFill>
                  <a:srgbClr val="1E2761"/>
                </a:solidFill>
                <a:latin typeface="Calibri"/>
              </a:rPr>
              <a:t>Prompt: what to do</a:t>
            </a:r>
          </a:p>
          <a:p>
            <a:pPr>
              <a:spcAft>
                <a:spcPts val="200"/>
              </a:spcAft>
            </a:pPr>
            <a:r>
              <a:rPr sz="1200" b="0">
                <a:solidFill>
                  <a:srgbClr val="36454F"/>
                </a:solidFill>
                <a:latin typeface="Calibri"/>
              </a:rPr>
              <a:t>/create-rap-bo Travel</a:t>
            </a:r>
          </a:p>
        </p:txBody>
      </p:sp>
      <p:sp>
        <p:nvSpPr>
          <p:cNvPr id="12" name="Rounded Rectangle 31"/>
          <p:cNvSpPr/>
          <p:nvPr/>
        </p:nvSpPr>
        <p:spPr>
          <a:xfrm>
            <a:off x="1005840" y="2971800"/>
            <a:ext cx="3383280" cy="960120"/>
          </a:xfrm>
          <a:prstGeom prst="roundRect">
            <a:avLst>
              <a:gd name="adj" fmla="val 6000"/>
            </a:avLst>
          </a:prstGeom>
          <a:solidFill>
            <a:srgbClr val="FFFFFF"/>
          </a:solidFill>
          <a:ln w="1587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32"/>
          <p:cNvSpPr txBox="1"/>
          <p:nvPr/>
        </p:nvSpPr>
        <p:spPr>
          <a:xfrm>
            <a:off x="1115568" y="3017520"/>
            <a:ext cx="3163824" cy="548640"/>
          </a:xfrm>
          <a:prstGeom prst="rect">
            <a:avLst/>
          </a:prstGeom>
          <a:noFill/>
        </p:spPr>
        <p:txBody>
          <a:bodyPr wrap="square" anchor="t" lIns="45720" rIns="45720">
            <a:spAutoFit/>
          </a:bodyPr>
          <a:lstStyle/>
          <a:p>
            <a:pPr>
              <a:spcAft>
                <a:spcPts val="200"/>
              </a:spcAft>
            </a:pPr>
            <a:r>
              <a:rPr sz="1300" b="1">
                <a:solidFill>
                  <a:srgbClr val="1E2761"/>
                </a:solidFill>
                <a:latin typeface="Calibri"/>
              </a:rPr>
              <a:t>Skill: how, when needed</a:t>
            </a:r>
          </a:p>
          <a:p>
            <a:pPr>
              <a:spcAft>
                <a:spcPts val="200"/>
              </a:spcAft>
            </a:pPr>
            <a:r>
              <a:rPr sz="1200" b="0">
                <a:solidFill>
                  <a:srgbClr val="36454F"/>
                </a:solidFill>
                <a:latin typeface="Calibri"/>
              </a:rPr>
              <a:t>e.g. abap-unit-test-writer</a:t>
            </a:r>
          </a:p>
        </p:txBody>
      </p:sp>
      <p:sp>
        <p:nvSpPr>
          <p:cNvPr id="14" name="TextBox 33"/>
          <p:cNvSpPr txBox="1"/>
          <p:nvPr/>
        </p:nvSpPr>
        <p:spPr>
          <a:xfrm>
            <a:off x="5303520" y="914400"/>
            <a:ext cx="3383280" cy="274320"/>
          </a:xfrm>
          <a:prstGeom prst="rect">
            <a:avLst/>
          </a:prstGeom>
          <a:noFill/>
        </p:spPr>
        <p:txBody>
          <a:bodyPr wrap="square" anchor="t" lIns="45720" rIns="45720">
            <a:spAutoFit/>
          </a:bodyPr>
          <a:lstStyle/>
          <a:p>
            <a:pPr>
              <a:spcAft>
                <a:spcPts val="200"/>
              </a:spcAft>
            </a:pPr>
            <a:r>
              <a:rPr sz="1300" b="1">
                <a:solidFill>
                  <a:srgbClr val="1E2761"/>
                </a:solidFill>
                <a:latin typeface="Calibri"/>
              </a:rPr>
              <a:t>Which one should I write?</a:t>
            </a:r>
          </a:p>
        </p:txBody>
      </p:sp>
      <p:graphicFrame>
        <p:nvGraphicFramePr>
          <p:cNvPr id="15" name="Table 34"/>
          <p:cNvGraphicFramePr>
            <a:graphicFrameLocks noGrp="1"/>
          </p:cNvGraphicFramePr>
          <p:nvPr/>
        </p:nvGraphicFramePr>
        <p:xfrm>
          <a:off x="5303520" y="1280160"/>
          <a:ext cx="3383280" cy="2286000"/>
        </p:xfrm>
        <a:graphic>
          <a:graphicData uri="http://schemas.openxmlformats.org/drawingml/2006/table">
            <a:tbl>
              <a:tblPr firstRow="1" bandRow="1">
                <a:tableStyleId>{5C22544A-7EE6-4342-B048-85BDC9FD1C3A}</a:tableStyleId>
              </a:tblPr>
              <a:tblGrid>
                <a:gridCol w="2331720"/>
                <a:gridCol w="1051560"/>
              </a:tblGrid>
              <a:tr h="457200">
                <a:tc>
                  <a:txBody>
                    <a:bodyPr wrap="square"/>
                    <a:lstStyle/>
                    <a:p>
                      <a:r>
                        <a:rPr sz="1200" b="1">
                          <a:solidFill>
                            <a:srgbClr val="FFFFFF"/>
                          </a:solidFill>
                          <a:latin typeface="Calibri"/>
                        </a:rPr>
                        <a:t>You want to…</a:t>
                      </a:r>
                    </a:p>
                  </a:txBody>
                  <a:tcPr marL="73152" marR="73152" marT="36576" marB="36576" anchor="ctr">
                    <a:solidFill>
                      <a:srgbClr val="1E2761"/>
                    </a:solidFill>
                  </a:tcPr>
                </a:tc>
                <a:tc>
                  <a:txBody>
                    <a:bodyPr wrap="square"/>
                    <a:lstStyle/>
                    <a:p>
                      <a:r>
                        <a:rPr sz="1200" b="1">
                          <a:solidFill>
                            <a:srgbClr val="FFFFFF"/>
                          </a:solidFill>
                          <a:latin typeface="Calibri"/>
                        </a:rPr>
                        <a:t>Write a…</a:t>
                      </a:r>
                    </a:p>
                  </a:txBody>
                  <a:tcPr marL="73152" marR="73152" marT="36576" marB="36576" anchor="ctr">
                    <a:solidFill>
                      <a:srgbClr val="1E2761"/>
                    </a:solidFill>
                  </a:tcPr>
                </a:tc>
              </a:tr>
              <a:tr h="457200">
                <a:tc>
                  <a:txBody>
                    <a:bodyPr wrap="square"/>
                    <a:lstStyle/>
                    <a:p>
                      <a:r>
                        <a:rPr sz="1200" b="0">
                          <a:solidFill>
                            <a:srgbClr val="36454F"/>
                          </a:solidFill>
                          <a:latin typeface="Calibri"/>
                        </a:rPr>
                        <a:t>Make the AI always follow a rule</a:t>
                      </a:r>
                    </a:p>
                  </a:txBody>
                  <a:tcPr marL="73152" marR="73152" marT="36576" marB="36576" anchor="ctr">
                    <a:solidFill>
                      <a:srgbClr val="F2F2F2"/>
                    </a:solidFill>
                  </a:tcPr>
                </a:tc>
                <a:tc>
                  <a:txBody>
                    <a:bodyPr wrap="square"/>
                    <a:lstStyle/>
                    <a:p>
                      <a:r>
                        <a:rPr sz="1200" b="0">
                          <a:solidFill>
                            <a:srgbClr val="36454F"/>
                          </a:solidFill>
                          <a:latin typeface="Calibri"/>
                        </a:rPr>
                        <a:t>Instruction</a:t>
                      </a:r>
                    </a:p>
                  </a:txBody>
                  <a:tcPr marL="73152" marR="73152" marT="36576" marB="36576" anchor="ctr">
                    <a:solidFill>
                      <a:srgbClr val="F2F2F2"/>
                    </a:solidFill>
                  </a:tcPr>
                </a:tc>
              </a:tr>
              <a:tr h="457200">
                <a:tc>
                  <a:txBody>
                    <a:bodyPr wrap="square"/>
                    <a:lstStyle/>
                    <a:p>
                      <a:r>
                        <a:rPr sz="1200" b="0">
                          <a:solidFill>
                            <a:srgbClr val="36454F"/>
                          </a:solidFill>
                          <a:latin typeface="Calibri"/>
                        </a:rPr>
                        <a:t>Save a task you repeat</a:t>
                      </a:r>
                    </a:p>
                  </a:txBody>
                  <a:tcPr marL="73152" marR="73152" marT="36576" marB="36576" anchor="ctr">
                    <a:solidFill>
                      <a:srgbClr val="FFFFFF"/>
                    </a:solidFill>
                  </a:tcPr>
                </a:tc>
                <a:tc>
                  <a:txBody>
                    <a:bodyPr wrap="square"/>
                    <a:lstStyle/>
                    <a:p>
                      <a:r>
                        <a:rPr sz="1200" b="0">
                          <a:solidFill>
                            <a:srgbClr val="36454F"/>
                          </a:solidFill>
                          <a:latin typeface="Calibri"/>
                        </a:rPr>
                        <a:t>Prompt</a:t>
                      </a:r>
                    </a:p>
                  </a:txBody>
                  <a:tcPr marL="73152" marR="73152" marT="36576" marB="36576" anchor="ctr">
                    <a:solidFill>
                      <a:srgbClr val="FFFFFF"/>
                    </a:solidFill>
                  </a:tcPr>
                </a:tc>
              </a:tr>
              <a:tr h="457200">
                <a:tc>
                  <a:txBody>
                    <a:bodyPr wrap="square"/>
                    <a:lstStyle/>
                    <a:p>
                      <a:r>
                        <a:rPr sz="1200" b="0">
                          <a:solidFill>
                            <a:srgbClr val="36454F"/>
                          </a:solidFill>
                          <a:latin typeface="Calibri"/>
                        </a:rPr>
                        <a:t>Capture know-how for a deliverable</a:t>
                      </a:r>
                    </a:p>
                  </a:txBody>
                  <a:tcPr marL="73152" marR="73152" marT="36576" marB="36576" anchor="ctr">
                    <a:solidFill>
                      <a:srgbClr val="F2F2F2"/>
                    </a:solidFill>
                  </a:tcPr>
                </a:tc>
                <a:tc>
                  <a:txBody>
                    <a:bodyPr wrap="square"/>
                    <a:lstStyle/>
                    <a:p>
                      <a:r>
                        <a:rPr sz="1200" b="0">
                          <a:solidFill>
                            <a:srgbClr val="36454F"/>
                          </a:solidFill>
                          <a:latin typeface="Calibri"/>
                        </a:rPr>
                        <a:t>Skill</a:t>
                      </a:r>
                    </a:p>
                  </a:txBody>
                  <a:tcPr marL="73152" marR="73152" marT="36576" marB="36576" anchor="ctr">
                    <a:solidFill>
                      <a:srgbClr val="F2F2F2"/>
                    </a:solidFill>
                  </a:tcPr>
                </a:tc>
              </a:tr>
              <a:tr h="457200">
                <a:tc>
                  <a:txBody>
                    <a:bodyPr wrap="square"/>
                    <a:lstStyle/>
                    <a:p>
                      <a:r>
                        <a:rPr sz="1200" b="0">
                          <a:solidFill>
                            <a:srgbClr val="36454F"/>
                          </a:solidFill>
                          <a:latin typeface="Calibri"/>
                        </a:rPr>
                        <a:t>Create a role with its own permissions</a:t>
                      </a:r>
                    </a:p>
                  </a:txBody>
                  <a:tcPr marL="73152" marR="73152" marT="36576" marB="36576" anchor="ctr">
                    <a:solidFill>
                      <a:srgbClr val="FFFFFF"/>
                    </a:solidFill>
                  </a:tcPr>
                </a:tc>
                <a:tc>
                  <a:txBody>
                    <a:bodyPr wrap="square"/>
                    <a:lstStyle/>
                    <a:p>
                      <a:r>
                        <a:rPr sz="1200" b="0">
                          <a:solidFill>
                            <a:srgbClr val="36454F"/>
                          </a:solidFill>
                          <a:latin typeface="Calibri"/>
                        </a:rPr>
                        <a:t>Agent</a:t>
                      </a:r>
                    </a:p>
                  </a:txBody>
                  <a:tcPr marL="73152" marR="73152" marT="36576" marB="36576" anchor="ctr">
                    <a:solidFill>
                      <a:srgbClr val="FFFFFF"/>
                    </a:solidFill>
                  </a:tcPr>
                </a:tc>
              </a:tr>
            </a:tbl>
          </a:graphicData>
        </a:graphic>
      </p:graphicFrame>
      <p:sp>
        <p:nvSpPr>
          <p:cNvPr id="16" name="TextBox 35"/>
          <p:cNvSpPr txBox="1"/>
          <p:nvPr/>
        </p:nvSpPr>
        <p:spPr>
          <a:xfrm>
            <a:off x="5303520" y="3749039"/>
            <a:ext cx="3383280" cy="594360"/>
          </a:xfrm>
          <a:prstGeom prst="rect">
            <a:avLst/>
          </a:prstGeom>
          <a:noFill/>
        </p:spPr>
        <p:txBody>
          <a:bodyPr wrap="square" anchor="t" lIns="45720" rIns="45720">
            <a:spAutoFit/>
          </a:bodyPr>
          <a:lstStyle/>
          <a:p>
            <a:pPr>
              <a:spcAft>
                <a:spcPts val="200"/>
              </a:spcAft>
            </a:pPr>
            <a:r>
              <a:rPr sz="1200" b="0">
                <a:solidFill>
                  <a:srgbClr val="36454F"/>
                </a:solidFill>
                <a:latin typeface="Calibri"/>
              </a:rPr>
              <a:t>Start with a local- prefix. If it proves useful, propose it to the team via PR.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Instructions &amp; Prompts: Rules &amp; Recipes</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5.1: copilot-instructions.md</a:t>
            </a:r>
            <a:endParaRPr lang="en-US" sz="1200" dirty="0"/>
          </a:p>
        </p:txBody>
      </p:sp>
      <p:sp>
        <p:nvSpPr>
          <p:cNvPr id="6" name="Text 3"/>
          <p:cNvSpPr txBox="1"/>
          <p:nvPr/>
        </p:nvSpPr>
        <p:spPr>
          <a:xfrm>
            <a:off x="640080" y="1280160"/>
            <a:ext cx="7863840" cy="36576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Loaded into every Copilot chat. The constitution: naming, ABAP Cloud first, Clean Core, write safety, testing, authoritative sources.</a:t>
            </a:r>
            <a:endParaRPr lang="en-US" sz="1100" dirty="0"/>
          </a:p>
        </p:txBody>
      </p:sp>
      <p:sp>
        <p:nvSpPr>
          <p:cNvPr id="7" name="Text 4"/>
          <p:cNvSpPr txBox="1"/>
          <p:nvPr/>
        </p:nvSpPr>
        <p:spPr>
          <a:xfrm>
            <a:off x="457200" y="182880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5.2: instructions/ — Rules by file type</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1280160"/>
        </p:xfrm>
        <a:graphic>
          <a:graphicData uri="http://schemas.openxmlformats.org/drawingml/2006/table">
            <a:tbl>
              <a:tblPr/>
              <a:tblGrid>
                <a:gridCol w="2743200"/>
                <a:gridCol w="2743200"/>
                <a:gridCol w="2743200"/>
              </a:tblGrid>
              <a:tr h="246888">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File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Applies to</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Covers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468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clean-abap.instructions.md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*.abap</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Naming, structure, error handling, tests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468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abap-performance.instructions.md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*.abap, *.asddls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Code-to-data, Open SQL, CDS perf</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468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abap-cloud-rap.instructions.md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*.asddls, *.asddlx, *.asbdef, *.asdcls, *.srvdsrv, *.acds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RAP conventions, tiers, abapGit</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468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fiori-annotations.instructions.md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*.asddls, *.asddlx</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@UI annotations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bl>
          </a:graphicData>
        </a:graphic>
      </p:graphicFrame>
      <p:sp>
        <p:nvSpPr>
          <p:cNvPr id="9" name="Text 5"/>
          <p:cNvSpPr txBox="1"/>
          <p:nvPr/>
        </p:nvSpPr>
        <p:spPr>
          <a:xfrm>
            <a:off x="457200" y="384048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5.3: prompts/ — Reusable recipes</a:t>
            </a:r>
            <a:endParaRPr lang="en-US" sz="1200" dirty="0"/>
          </a:p>
        </p:txBody>
      </p:sp>
      <p:sp>
        <p:nvSpPr>
          <p:cNvPr id="10" name="Text 6"/>
          <p:cNvSpPr txBox="1"/>
          <p:nvPr/>
        </p:nvSpPr>
        <p:spPr>
          <a:xfrm>
            <a:off x="640080" y="4114800"/>
            <a:ext cx="7863840" cy="54864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Start with / in Copilot Chat. Examples: /bootstrap-system-context, /explain-abap, /create-rap-bo, /debug-fiori-ui, /analyze-dump, /atc-fix, /pre-transport-check</a:t>
            </a:r>
            <a:endParaRPr lang="en-US" sz="1100" dirty="0"/>
          </a:p>
        </p:txBody>
      </p:sp>
      <p:sp>
        <p:nvSpPr>
          <p:cNvPr id="11"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11</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Skills &amp; Agents: Expertise &amp; Roles</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5.4: skills/ — Packaged expertise</a:t>
            </a:r>
            <a:endParaRPr lang="en-US" sz="1200" dirty="0"/>
          </a:p>
        </p:txBody>
      </p:sp>
      <p:sp>
        <p:nvSpPr>
          <p:cNvPr id="6" name="Text 3"/>
          <p:cNvSpPr txBox="1"/>
          <p:nvPr/>
        </p:nvSpPr>
        <p:spPr>
          <a:xfrm>
            <a:off x="640080" y="1325880"/>
            <a:ext cx="7863840" cy="91440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Requirements: requirement-workshop-facilitator, functional-spec-reviewer, functional-spec-writer</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Design: solution-architect, technical-design-writer, clean-core-extensibility-advisor</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Build &amp; quality: abap-object-generator, abap-unit-test-writer, clean-abap-code-reviewer, abap-cloud-readiness-checker</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Knowledge: coe-session-planner, sap-innovation-radar</a:t>
            </a:r>
            <a:endParaRPr lang="en-US" sz="1100" dirty="0"/>
          </a:p>
        </p:txBody>
      </p:sp>
      <p:sp>
        <p:nvSpPr>
          <p:cNvPr id="7" name="Text 4"/>
          <p:cNvSpPr txBox="1"/>
          <p:nvPr/>
        </p:nvSpPr>
        <p:spPr>
          <a:xfrm>
            <a:off x="457200" y="23774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5.5: agents/ — Role-based assistants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8229600" cy="1005840"/>
        </p:xfrm>
        <a:graphic>
          <a:graphicData uri="http://schemas.openxmlformats.org/drawingml/2006/table">
            <a:tbl>
              <a:tblPr/>
              <a:tblGrid>
                <a:gridCol w="2057400"/>
                <a:gridCol w="2057400"/>
                <a:gridCol w="2057400"/>
                <a:gridCol w="2057400"/>
              </a:tblGrid>
              <a:tr h="246888">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Agent</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Writes?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Hands off to</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468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abap-architect</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Design &amp; ADR</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Senior dev</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468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abap-senior-developer</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Build &amp; test</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After confirm</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Reviewer</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46888">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abap-clean-code-reviewer</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Code review</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Dev (fix)</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bl>
          </a:graphicData>
        </a:graphic>
      </p:graphicFrame>
      <p:sp>
        <p:nvSpPr>
          <p:cNvPr id="9" name="Text 5"/>
          <p:cNvSpPr txBox="1"/>
          <p:nvPr/>
        </p:nvSpPr>
        <p:spPr>
          <a:xfrm>
            <a:off x="640080" y="3840480"/>
            <a:ext cx="7863840" cy="45720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Mirrors real process: design → build → review → fix, with same separation of duties.</a:t>
            </a:r>
            <a:endParaRPr lang="en-US" sz="1100" dirty="0"/>
          </a:p>
        </p:txBody>
      </p:sp>
      <p:sp>
        <p:nvSpPr>
          <p:cNvPr id="10"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Reference, Templates &amp; Supporting Files</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5.6: reference/ — The ground truth</a:t>
            </a:r>
            <a:endParaRPr lang="en-US" sz="1200" dirty="0"/>
          </a:p>
        </p:txBody>
      </p:sp>
      <p:sp>
        <p:nvSpPr>
          <p:cNvPr id="6" name="Text 3"/>
          <p:cNvSpPr txBox="1"/>
          <p:nvPr/>
        </p:nvSpPr>
        <p:spPr>
          <a:xfrm>
            <a:off x="640080" y="1325880"/>
            <a:ext cx="7863840" cy="54864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sap-project-standards.md (start here), adt-mcp-usage.md, fit-to-standard-patterns.md, l2c-standard-process-reference.md, pricing-condition-technique-reference.md, s4hana-simplification-redflags.md</a:t>
            </a:r>
            <a:endParaRPr lang="en-US" sz="1100" dirty="0"/>
          </a:p>
        </p:txBody>
      </p:sp>
      <p:sp>
        <p:nvSpPr>
          <p:cNvPr id="7" name="Text 4"/>
          <p:cNvSpPr txBox="1"/>
          <p:nvPr/>
        </p:nvSpPr>
        <p:spPr>
          <a:xfrm>
            <a:off x="457200" y="205740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5.7: templates/ — Consistent output formats</a:t>
            </a:r>
            <a:endParaRPr lang="en-US" sz="1200" dirty="0"/>
          </a:p>
        </p:txBody>
      </p:sp>
      <p:sp>
        <p:nvSpPr>
          <p:cNvPr id="8" name="Text 5"/>
          <p:cNvSpPr txBox="1"/>
          <p:nvPr/>
        </p:nvSpPr>
        <p:spPr>
          <a:xfrm>
            <a:off x="640080" y="2377440"/>
            <a:ext cx="7863840" cy="45720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Functional spec, FS review, technical design, solution design, interface spec, Clean Core ADR, review checklist, workshop notes, KM session, deck outline</a:t>
            </a:r>
            <a:endParaRPr lang="en-US" sz="1100" dirty="0"/>
          </a:p>
        </p:txBody>
      </p:sp>
      <p:sp>
        <p:nvSpPr>
          <p:cNvPr id="9" name="Text 6"/>
          <p:cNvSpPr txBox="1"/>
          <p:nvPr/>
        </p:nvSpPr>
        <p:spPr>
          <a:xfrm>
            <a:off x="457200" y="297180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Section 5.8: Supporting files</a:t>
            </a:r>
            <a:endParaRPr lang="en-US" sz="1200" dirty="0"/>
          </a:p>
        </p:txBody>
      </p:sp>
      <p:sp>
        <p:nvSpPr>
          <p:cNvPr id="10" name="Text 7"/>
          <p:cNvSpPr txBox="1"/>
          <p:nvPr/>
        </p:nvSpPr>
        <p:spPr>
          <a:xfrm>
            <a:off x="640080" y="3291840"/>
            <a:ext cx="7863840" cy="137160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.vscode/settings.json — Enables instructions, prompts, skills, ADT MCP</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.gitignore — Keeps local-* and system-info.md private</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pull_request_template.md — Quality gate for contributions</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CONTRIBUTING.md — Full fork/sync/contribute guide</a:t>
            </a:r>
            <a:endParaRPr lang="en-US" sz="1100" dirty="0"/>
          </a:p>
        </p:txBody>
      </p:sp>
      <p:sp>
        <p:nvSpPr>
          <p:cNvPr id="11"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13</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The Theory: Why This Works (Manager View)</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Text 4"/>
          <p:cNvSpPr txBox="1"/>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6.1 Context Engineering</a:t>
            </a:r>
            <a:endParaRPr lang="en-US" sz="1200" dirty="0"/>
          </a:p>
        </p:txBody>
      </p:sp>
      <p:sp>
        <p:nvSpPr>
          <p:cNvPr id="8" name="Text 5"/>
          <p:cNvSpPr txBox="1"/>
          <p:nvPr/>
        </p:nvSpPr>
        <p:spPr>
          <a:xfrm>
            <a:off x="640080" y="1280160"/>
            <a:ext cx="7863840" cy="36576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Quality depends on context. We engineer it once in Git, version it like code, and everyone uses the same context.</a:t>
            </a:r>
            <a:endParaRPr lang="en-US" sz="1100" dirty="0"/>
          </a:p>
        </p:txBody>
      </p:sp>
      <p:sp>
        <p:nvSpPr>
          <p:cNvPr id="9" name="Text 6"/>
          <p:cNvSpPr txBox="1"/>
          <p:nvPr/>
        </p:nvSpPr>
        <p:spPr>
          <a:xfrm>
            <a:off x="457200" y="178308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6.4 Least Privilege &amp; Separation of Duties</a:t>
            </a:r>
            <a:endParaRPr lang="en-US" sz="1200" dirty="0"/>
          </a:p>
        </p:txBody>
      </p:sp>
      <p:sp>
        <p:nvSpPr>
          <p:cNvPr id="10" name="Text 7"/>
          <p:cNvSpPr txBox="1"/>
          <p:nvPr/>
        </p:nvSpPr>
        <p:spPr>
          <a:xfrm>
            <a:off x="640080" y="2103120"/>
            <a:ext cx="7863840" cy="45720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Agents get only the tools they need. Architects and reviewers are read-only. Developers write only after explicit confirmation. Same four-eyes principle we apply to people.</a:t>
            </a:r>
            <a:endParaRPr lang="en-US" sz="1100" dirty="0"/>
          </a:p>
        </p:txBody>
      </p:sp>
      <p:sp>
        <p:nvSpPr>
          <p:cNvPr id="11" name="Text 8"/>
          <p:cNvSpPr txBox="1"/>
          <p:nvPr/>
        </p:nvSpPr>
        <p:spPr>
          <a:xfrm>
            <a:off x="457200" y="269748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6.6 Guidelines as Code</a:t>
            </a:r>
            <a:endParaRPr lang="en-US" sz="1200" dirty="0"/>
          </a:p>
        </p:txBody>
      </p:sp>
      <p:sp>
        <p:nvSpPr>
          <p:cNvPr id="12" name="Text 9"/>
          <p:cNvSpPr txBox="1"/>
          <p:nvPr/>
        </p:nvSpPr>
        <p:spPr>
          <a:xfrm>
            <a:off x="640080" y="3017520"/>
            <a:ext cx="7863840" cy="45720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It's all Markdown in Git. We get history, review, diffs, rollback, releases and contribution for free. Engineering discipline applied to AI setup.</a:t>
            </a:r>
            <a:endParaRPr lang="en-US" sz="1100" dirty="0"/>
          </a:p>
        </p:txBody>
      </p:sp>
      <p:sp>
        <p:nvSpPr>
          <p:cNvPr id="13" name="Text 10"/>
          <p:cNvSpPr txBox="1"/>
          <p:nvPr/>
        </p:nvSpPr>
        <p:spPr>
          <a:xfrm>
            <a:off x="457200" y="3657600"/>
            <a:ext cx="8229600" cy="228600"/>
          </a:xfrm>
          <a:prstGeom prst="rect">
            <a:avLst/>
          </a:prstGeom>
          <a:noFill/>
          <a:ln/>
        </p:spPr>
        <p:txBody>
          <a:bodyPr wrap="square" rtlCol="0" anchor="ctr"/>
          <a:lstStyle/>
          <a:p>
            <a:pPr indent="0" marL="0">
              <a:buNone/>
            </a:pPr>
            <a:r>
              <a:rPr lang="en-US" sz="1200" b="1" dirty="0">
                <a:solidFill>
                  <a:srgbClr val="FF8C42"/>
                </a:solidFill>
                <a:latin typeface="Calibri" pitchFamily="34" charset="0"/>
                <a:ea typeface="Calibri" pitchFamily="34" charset="-122"/>
                <a:cs typeface="Calibri" pitchFamily="34" charset="-120"/>
              </a:rPr>
              <a:t>Also see developer slides:</a:t>
            </a:r>
            <a:endParaRPr lang="en-US" sz="1200" dirty="0"/>
          </a:p>
        </p:txBody>
      </p:sp>
      <p:sp>
        <p:nvSpPr>
          <p:cNvPr id="14" name="Text 11"/>
          <p:cNvSpPr txBox="1"/>
          <p:nvPr/>
        </p:nvSpPr>
        <p:spPr>
          <a:xfrm>
            <a:off x="640080" y="3977640"/>
            <a:ext cx="7863840" cy="45720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6.2 Four Layers (always-on → on-demand)  •  6.3 MCP Grounding (system facts)  •  6.5 Single Source of Truth (DRY rules)</a:t>
            </a:r>
            <a:endParaRPr lang="en-US" sz="1100" dirty="0"/>
          </a:p>
        </p:txBody>
      </p:sp>
      <p:sp>
        <p:nvSpPr>
          <p:cNvPr id="1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14</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The Theory: Four Layers &amp; MCP Grounding</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6.2 Four Layers (from always-on to on-demand)</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1188720"/>
        </p:xfrm>
        <a:graphic>
          <a:graphicData uri="http://schemas.openxmlformats.org/drawingml/2006/table">
            <a:tbl>
              <a:tblPr/>
              <a:tblGrid>
                <a:gridCol w="2743200"/>
                <a:gridCol w="2743200"/>
                <a:gridCol w="2743200"/>
              </a:tblGrid>
              <a:tr h="237744">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Loaded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3774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Instructions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Always/by file type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Rules never forgotten</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3774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Prompts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When you type /name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Repeatable procedures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3774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Skills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When task matches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Deep expertise on-demand</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3774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Agents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When you pick agent</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Persona with role &amp; limits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bl>
          </a:graphicData>
        </a:graphic>
      </p:graphicFrame>
      <p:sp>
        <p:nvSpPr>
          <p:cNvPr id="7" name="Text 3"/>
          <p:cNvSpPr txBox="1"/>
          <p:nvPr/>
        </p:nvSpPr>
        <p:spPr>
          <a:xfrm>
            <a:off x="640080" y="2606040"/>
            <a:ext cx="7863840" cy="457200"/>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Progressive disclosure: Context window is limited. Always-on rules stay short. Detailed knowledge loads only when needed.</a:t>
            </a:r>
            <a:endParaRPr lang="en-US" sz="1100" dirty="0"/>
          </a:p>
        </p:txBody>
      </p:sp>
      <p:sp>
        <p:nvSpPr>
          <p:cNvPr id="8" name="Text 4"/>
          <p:cNvSpPr txBox="1"/>
          <p:nvPr/>
        </p:nvSpPr>
        <p:spPr>
          <a:xfrm>
            <a:off x="457200" y="320040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6.3 Grounding through MCP (Model Context Protocol)</a:t>
            </a:r>
            <a:endParaRPr lang="en-US" sz="1200" dirty="0"/>
          </a:p>
        </p:txBody>
      </p:sp>
      <p:sp>
        <p:nvSpPr>
          <p:cNvPr id="9" name="Text 5"/>
          <p:cNvSpPr txBox="1"/>
          <p:nvPr/>
        </p:nvSpPr>
        <p:spPr>
          <a:xfrm>
            <a:off x="640080" y="3520440"/>
            <a:ext cx="7863840" cy="109728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MCP lets the AI call tools. ADT MCP Server enables:</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Read objects, run where-used, check release state (facts from system, not memory)</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Run ATC and ABAP Unit tests (verification)</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Create/activate objects and transports only after your confirmation (human in loop)</a:t>
            </a:r>
            <a:endParaRPr lang="en-US" sz="1100" dirty="0"/>
          </a:p>
        </p:txBody>
      </p:sp>
      <p:sp>
        <p:nvSpPr>
          <p:cNvPr id="10"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15</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6.5 Single Source of Truth</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640080" y="1097280"/>
            <a:ext cx="7863840" cy="3474720"/>
          </a:xfrm>
          <a:prstGeom prst="rect">
            <a:avLst/>
          </a:prstGeom>
          <a:noFill/>
          <a:ln/>
        </p:spPr>
        <p:txBody>
          <a:bodyPr wrap="square" rtlCol="0" anchor="t"/>
          <a:lstStyle/>
          <a:p>
            <a:pPr indent="0" marL="0">
              <a:buNone/>
            </a:pPr>
            <a:r>
              <a:rPr lang="en-US" sz="1300" dirty="0">
                <a:solidFill>
                  <a:srgbClr val="36454F"/>
                </a:solidFill>
                <a:latin typeface="Calibri" pitchFamily="34" charset="0"/>
                <a:ea typeface="Calibri" pitchFamily="34" charset="-122"/>
                <a:cs typeface="Calibri" pitchFamily="34" charset="-120"/>
              </a:rPr>
              <a:t>Naming lives in one table.</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Tier rules live in one file (sap-project-standards.md).</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Prompts and skills link to them instead of copying them.</a:t>
            </a:r>
            <a:endParaRPr lang="en-US" sz="1300" dirty="0"/>
          </a:p>
          <a:p>
            <a:pPr indent="0" marL="0">
              <a:buNone/>
            </a:pP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Change a rule once and it changes everywhere.</a:t>
            </a: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This is DRY (Don't Repeat Yourself) applied to guidelines.</a:t>
            </a:r>
            <a:endParaRPr lang="en-US" sz="1300" dirty="0"/>
          </a:p>
          <a:p>
            <a:pPr indent="0" marL="0">
              <a:buNone/>
            </a:pPr>
            <a:endParaRPr lang="en-US" sz="1300" dirty="0"/>
          </a:p>
          <a:p>
            <a:pPr indent="0" marL="0">
              <a:buNone/>
            </a:pPr>
            <a:r>
              <a:rPr lang="en-US" sz="1300" dirty="0">
                <a:solidFill>
                  <a:srgbClr val="36454F"/>
                </a:solidFill>
                <a:latin typeface="Calibri" pitchFamily="34" charset="0"/>
                <a:ea typeface="Calibri" pitchFamily="34" charset="-122"/>
                <a:cs typeface="Calibri" pitchFamily="34" charset="-120"/>
              </a:rPr>
              <a:t>Result: Consistency, maintainability, and single source of truth.</a:t>
            </a:r>
            <a:endParaRPr lang="en-US" sz="1300" dirty="0"/>
          </a:p>
        </p:txBody>
      </p:sp>
      <p:sp>
        <p:nvSpPr>
          <p:cNvPr id="6"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16</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Day-to-Day: Where It Saves Time</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383280"/>
        </p:xfrm>
        <a:graphic>
          <a:graphicData uri="http://schemas.openxmlformats.org/drawingml/2006/table">
            <a:tbl>
              <a:tblPr/>
              <a:tblGrid>
                <a:gridCol w="2743200"/>
                <a:gridCol w="2743200"/>
                <a:gridCol w="2743200"/>
              </a:tblGrid>
              <a:tr h="420624">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Situation</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Before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With workspace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New RAP BO</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Copy, rename, fix</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/create-rap-bo</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Fiori not showing</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Trial &amp; error</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/debug-fiori-ui</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Short dump</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Read ST22</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/analyze-dump</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Slow query</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Guess, rewrite</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/debug-slow-sql</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Unit tests</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Often skipped</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/generate-abap-unit-tests</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ATC findings</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Fix one by one</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/atc-fix</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420624">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Transport check</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Manual, incomplete</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/pre-transport-check</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bl>
          </a:graphicData>
        </a:graphic>
      </p:graphicFrame>
      <p:sp>
        <p:nvSpPr>
          <p:cNvPr id="8"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17</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A Typical Feature Flow</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Shape 4"/>
          <p:cNvSpPr/>
          <p:nvPr/>
        </p:nvSpPr>
        <p:spPr>
          <a:xfrm>
            <a:off x="457200" y="1051560"/>
            <a:ext cx="1463040" cy="548640"/>
          </a:xfrm>
          <a:prstGeom prst="rect">
            <a:avLst/>
          </a:prstGeom>
          <a:solidFill>
            <a:srgbClr val="CADCFC"/>
          </a:solidFill>
          <a:ln w="12700">
            <a:solidFill>
              <a:srgbClr val="36454F"/>
            </a:solidFill>
            <a:prstDash val="solid"/>
          </a:ln>
        </p:spPr>
        <p:txBody>
          <a:bodyPr/>
          <a:p/>
        </p:txBody>
      </p:sp>
      <p:sp>
        <p:nvSpPr>
          <p:cNvPr id="8" name="Text 5"/>
          <p:cNvSpPr txBox="1"/>
          <p:nvPr/>
        </p:nvSpPr>
        <p:spPr>
          <a:xfrm>
            <a:off x="457200" y="1051560"/>
            <a:ext cx="1463040"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Requirement</a:t>
            </a:r>
            <a:endParaRPr lang="en-US" sz="1100" dirty="0"/>
          </a:p>
        </p:txBody>
      </p:sp>
      <p:sp>
        <p:nvSpPr>
          <p:cNvPr id="9" name="Shape 7"/>
          <p:cNvSpPr/>
          <p:nvPr/>
        </p:nvSpPr>
        <p:spPr>
          <a:xfrm>
            <a:off x="2148840" y="1051560"/>
            <a:ext cx="1463040" cy="548640"/>
          </a:xfrm>
          <a:prstGeom prst="rect">
            <a:avLst/>
          </a:prstGeom>
          <a:solidFill>
            <a:srgbClr val="CADCFC"/>
          </a:solidFill>
          <a:ln w="12700">
            <a:solidFill>
              <a:srgbClr val="36454F"/>
            </a:solidFill>
            <a:prstDash val="solid"/>
          </a:ln>
        </p:spPr>
        <p:txBody>
          <a:bodyPr/>
          <a:p/>
        </p:txBody>
      </p:sp>
      <p:sp>
        <p:nvSpPr>
          <p:cNvPr id="10" name="Text 8"/>
          <p:cNvSpPr txBox="1"/>
          <p:nvPr/>
        </p:nvSpPr>
        <p:spPr>
          <a:xfrm>
            <a:off x="2148840" y="1051560"/>
            <a:ext cx="1463040"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Design &amp;</a:t>
            </a:r>
            <a:endParaRPr lang="en-US" sz="1100" dirty="0"/>
          </a:p>
          <a:p>
            <a:pPr algn="ctr" indent="0" marL="0">
              <a:buNone/>
            </a:pPr>
            <a:r>
              <a:rPr lang="en-US" sz="1200" b="1" dirty="0">
                <a:solidFill>
                  <a:srgbClr val="36454F"/>
                </a:solidFill>
                <a:latin typeface="Calibri" pitchFamily="34" charset="0"/>
                <a:ea typeface="Calibri" pitchFamily="34" charset="-122"/>
                <a:cs typeface="Calibri" pitchFamily="34" charset="-120"/>
              </a:rPr>
              <a:t>architect</a:t>
            </a:r>
            <a:endParaRPr lang="en-US" sz="1100" dirty="0"/>
          </a:p>
        </p:txBody>
      </p:sp>
      <p:sp>
        <p:nvSpPr>
          <p:cNvPr id="11" name="Shape 10"/>
          <p:cNvSpPr/>
          <p:nvPr/>
        </p:nvSpPr>
        <p:spPr>
          <a:xfrm>
            <a:off x="3840480" y="1051560"/>
            <a:ext cx="1463040" cy="548640"/>
          </a:xfrm>
          <a:prstGeom prst="rect">
            <a:avLst/>
          </a:prstGeom>
          <a:solidFill>
            <a:srgbClr val="CADCFC"/>
          </a:solidFill>
          <a:ln w="12700">
            <a:solidFill>
              <a:srgbClr val="36454F"/>
            </a:solidFill>
            <a:prstDash val="solid"/>
          </a:ln>
        </p:spPr>
        <p:txBody>
          <a:bodyPr/>
          <a:p/>
        </p:txBody>
      </p:sp>
      <p:sp>
        <p:nvSpPr>
          <p:cNvPr id="12" name="Text 11"/>
          <p:cNvSpPr txBox="1"/>
          <p:nvPr/>
        </p:nvSpPr>
        <p:spPr>
          <a:xfrm>
            <a:off x="3840480" y="1051560"/>
            <a:ext cx="1463040"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Build &amp;</a:t>
            </a:r>
            <a:endParaRPr lang="en-US" sz="1100" dirty="0"/>
          </a:p>
          <a:p>
            <a:pPr algn="ctr" indent="0" marL="0">
              <a:buNone/>
            </a:pPr>
            <a:r>
              <a:rPr lang="en-US" sz="1200" b="1" dirty="0">
                <a:solidFill>
                  <a:srgbClr val="36454F"/>
                </a:solidFill>
                <a:latin typeface="Calibri" pitchFamily="34" charset="0"/>
                <a:ea typeface="Calibri" pitchFamily="34" charset="-122"/>
                <a:cs typeface="Calibri" pitchFamily="34" charset="-120"/>
              </a:rPr>
              <a:t>test</a:t>
            </a:r>
            <a:endParaRPr lang="en-US" sz="1100" dirty="0"/>
          </a:p>
        </p:txBody>
      </p:sp>
      <p:sp>
        <p:nvSpPr>
          <p:cNvPr id="13" name="Shape 13"/>
          <p:cNvSpPr/>
          <p:nvPr/>
        </p:nvSpPr>
        <p:spPr>
          <a:xfrm>
            <a:off x="5532120" y="1051560"/>
            <a:ext cx="1463040" cy="548640"/>
          </a:xfrm>
          <a:prstGeom prst="rect">
            <a:avLst/>
          </a:prstGeom>
          <a:solidFill>
            <a:srgbClr val="CADCFC"/>
          </a:solidFill>
          <a:ln w="12700">
            <a:solidFill>
              <a:srgbClr val="36454F"/>
            </a:solidFill>
            <a:prstDash val="solid"/>
          </a:ln>
        </p:spPr>
        <p:txBody>
          <a:bodyPr/>
          <a:p/>
        </p:txBody>
      </p:sp>
      <p:sp>
        <p:nvSpPr>
          <p:cNvPr id="14" name="Text 14"/>
          <p:cNvSpPr txBox="1"/>
          <p:nvPr/>
        </p:nvSpPr>
        <p:spPr>
          <a:xfrm>
            <a:off x="5532120" y="1051560"/>
            <a:ext cx="1463040"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Review &amp;</a:t>
            </a:r>
            <a:endParaRPr lang="en-US" sz="1100" dirty="0"/>
          </a:p>
          <a:p>
            <a:pPr algn="ctr" indent="0" marL="0">
              <a:buNone/>
            </a:pPr>
            <a:r>
              <a:rPr lang="en-US" sz="1200" b="1" dirty="0">
                <a:solidFill>
                  <a:srgbClr val="36454F"/>
                </a:solidFill>
                <a:latin typeface="Calibri" pitchFamily="34" charset="0"/>
                <a:ea typeface="Calibri" pitchFamily="34" charset="-122"/>
                <a:cs typeface="Calibri" pitchFamily="34" charset="-120"/>
              </a:rPr>
              <a:t>fix</a:t>
            </a:r>
            <a:endParaRPr lang="en-US" sz="1100" dirty="0"/>
          </a:p>
        </p:txBody>
      </p:sp>
      <p:sp>
        <p:nvSpPr>
          <p:cNvPr id="15" name="Shape 16"/>
          <p:cNvSpPr/>
          <p:nvPr/>
        </p:nvSpPr>
        <p:spPr>
          <a:xfrm>
            <a:off x="7223760" y="1051560"/>
            <a:ext cx="1463040" cy="548640"/>
          </a:xfrm>
          <a:prstGeom prst="rect">
            <a:avLst/>
          </a:prstGeom>
          <a:solidFill>
            <a:srgbClr val="CADCFC"/>
          </a:solidFill>
          <a:ln w="12700">
            <a:solidFill>
              <a:srgbClr val="36454F"/>
            </a:solidFill>
            <a:prstDash val="solid"/>
          </a:ln>
        </p:spPr>
        <p:txBody>
          <a:bodyPr/>
          <a:p/>
        </p:txBody>
      </p:sp>
      <p:sp>
        <p:nvSpPr>
          <p:cNvPr id="16" name="Text 17"/>
          <p:cNvSpPr txBox="1"/>
          <p:nvPr/>
        </p:nvSpPr>
        <p:spPr>
          <a:xfrm>
            <a:off x="7223760" y="1051560"/>
            <a:ext cx="1463040" cy="548640"/>
          </a:xfrm>
          <a:prstGeom prst="rect">
            <a:avLst/>
          </a:prstGeom>
          <a:noFill/>
          <a:ln/>
        </p:spPr>
        <p:txBody>
          <a:bodyPr wrap="square" lIns="0" tIns="0" rIns="0" bIns="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Ship</a:t>
            </a:r>
            <a:endParaRPr lang="en-US" sz="1100" dirty="0"/>
          </a:p>
        </p:txBody>
      </p:sp>
      <p:sp>
        <p:nvSpPr>
          <p:cNvPr id="17" name="Text 18"/>
          <p:cNvSpPr txBox="1"/>
          <p:nvPr/>
        </p:nvSpPr>
        <p:spPr>
          <a:xfrm>
            <a:off x="457200" y="2697480"/>
            <a:ext cx="8229600" cy="27432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Why this saves time:</a:t>
            </a:r>
            <a:endParaRPr lang="en-US" sz="1200" dirty="0"/>
          </a:p>
        </p:txBody>
      </p:sp>
      <p:sp>
        <p:nvSpPr>
          <p:cNvPr id="18" name="Text 19"/>
          <p:cNvSpPr txBox="1"/>
          <p:nvPr/>
        </p:nvSpPr>
        <p:spPr>
          <a:xfrm>
            <a:off x="640080" y="3017520"/>
            <a:ext cx="8046720" cy="155448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 No prompt writing needed</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Rules enforced at generation, not caught in review</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Fewer rework loops</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SAP facts verified, not hallucinated</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Faster onboarding</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Improvements compound across team</a:t>
            </a:r>
            <a:endParaRPr lang="en-US" sz="1100" dirty="0"/>
          </a:p>
        </p:txBody>
      </p:sp>
      <p:sp>
        <p:nvSpPr>
          <p:cNvPr id="19"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18</a:t>
            </a:fld>
            <a:endParaRPr lang="en-US"/>
          </a:p>
        </p:txBody>
      </p:sp>
      <p:sp>
        <p:nvSpPr>
          <p:cNvPr id="20" name="TextBox 23"/>
          <p:cNvSpPr txBox="1"/>
          <p:nvPr/>
        </p:nvSpPr>
        <p:spPr>
          <a:xfrm>
            <a:off x="457200" y="1691639"/>
            <a:ext cx="1463040" cy="822960"/>
          </a:xfrm>
          <a:prstGeom prst="rect">
            <a:avLst/>
          </a:prstGeom>
          <a:noFill/>
        </p:spPr>
        <p:txBody>
          <a:bodyPr wrap="square" anchor="t">
            <a:spAutoFit/>
          </a:bodyPr>
          <a:lstStyle/>
          <a:p>
            <a:pPr algn="ctr">
              <a:spcAft>
                <a:spcPts val="400"/>
              </a:spcAft>
            </a:pPr>
            <a:r>
              <a:rPr sz="1200" b="0">
                <a:solidFill>
                  <a:srgbClr val="36454F"/>
                </a:solidFill>
                <a:latin typeface="Calibri"/>
              </a:rPr>
              <a:t>/clean-core-extensibility-check</a:t>
            </a:r>
          </a:p>
        </p:txBody>
      </p:sp>
      <p:cxnSp>
        <p:nvCxnSpPr>
          <p:cNvPr id="21" name="Connector 24"/>
          <p:cNvCxnSpPr/>
          <p:nvPr/>
        </p:nvCxnSpPr>
        <p:spPr>
          <a:xfrm>
            <a:off x="1938528" y="1325880"/>
            <a:ext cx="192024" cy="0"/>
          </a:xfrm>
          <a:prstGeom prst="line">
            <a:avLst/>
          </a:prstGeom>
          <a:ln w="2540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5"/>
          <p:cNvSpPr txBox="1"/>
          <p:nvPr/>
        </p:nvSpPr>
        <p:spPr>
          <a:xfrm>
            <a:off x="2148840" y="1691639"/>
            <a:ext cx="1463040" cy="822960"/>
          </a:xfrm>
          <a:prstGeom prst="rect">
            <a:avLst/>
          </a:prstGeom>
          <a:noFill/>
        </p:spPr>
        <p:txBody>
          <a:bodyPr wrap="square" anchor="t">
            <a:spAutoFit/>
          </a:bodyPr>
          <a:lstStyle/>
          <a:p>
            <a:pPr algn="ctr">
              <a:spcAft>
                <a:spcPts val="400"/>
              </a:spcAft>
            </a:pPr>
            <a:r>
              <a:rPr sz="1200" b="0">
                <a:solidFill>
                  <a:srgbClr val="36454F"/>
                </a:solidFill>
                <a:latin typeface="Calibri"/>
              </a:rPr>
              <a:t>abap-architect: tier decision + object inventory</a:t>
            </a:r>
          </a:p>
        </p:txBody>
      </p:sp>
      <p:cxnSp>
        <p:nvCxnSpPr>
          <p:cNvPr id="23" name="Connector 26"/>
          <p:cNvCxnSpPr/>
          <p:nvPr/>
        </p:nvCxnSpPr>
        <p:spPr>
          <a:xfrm>
            <a:off x="3630168" y="1325880"/>
            <a:ext cx="192024" cy="0"/>
          </a:xfrm>
          <a:prstGeom prst="line">
            <a:avLst/>
          </a:prstGeom>
          <a:ln w="2540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7"/>
          <p:cNvSpPr txBox="1"/>
          <p:nvPr/>
        </p:nvSpPr>
        <p:spPr>
          <a:xfrm>
            <a:off x="3840480" y="1691639"/>
            <a:ext cx="1463040" cy="822960"/>
          </a:xfrm>
          <a:prstGeom prst="rect">
            <a:avLst/>
          </a:prstGeom>
          <a:noFill/>
        </p:spPr>
        <p:txBody>
          <a:bodyPr wrap="square" anchor="t">
            <a:spAutoFit/>
          </a:bodyPr>
          <a:lstStyle/>
          <a:p>
            <a:pPr algn="ctr">
              <a:spcAft>
                <a:spcPts val="400"/>
              </a:spcAft>
            </a:pPr>
            <a:r>
              <a:rPr sz="1200" b="0">
                <a:solidFill>
                  <a:srgbClr val="36454F"/>
                </a:solidFill>
                <a:latin typeface="Calibri"/>
              </a:rPr>
              <a:t>abap-senior-developer: objects + tests, you confirm writes</a:t>
            </a:r>
          </a:p>
        </p:txBody>
      </p:sp>
      <p:cxnSp>
        <p:nvCxnSpPr>
          <p:cNvPr id="25" name="Connector 28"/>
          <p:cNvCxnSpPr/>
          <p:nvPr/>
        </p:nvCxnSpPr>
        <p:spPr>
          <a:xfrm>
            <a:off x="5321808" y="1325880"/>
            <a:ext cx="192024" cy="0"/>
          </a:xfrm>
          <a:prstGeom prst="line">
            <a:avLst/>
          </a:prstGeom>
          <a:ln w="2540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9"/>
          <p:cNvSpPr txBox="1"/>
          <p:nvPr/>
        </p:nvSpPr>
        <p:spPr>
          <a:xfrm>
            <a:off x="5532120" y="1691639"/>
            <a:ext cx="1463040" cy="822960"/>
          </a:xfrm>
          <a:prstGeom prst="rect">
            <a:avLst/>
          </a:prstGeom>
          <a:noFill/>
        </p:spPr>
        <p:txBody>
          <a:bodyPr wrap="square" anchor="t">
            <a:spAutoFit/>
          </a:bodyPr>
          <a:lstStyle/>
          <a:p>
            <a:pPr algn="ctr">
              <a:spcAft>
                <a:spcPts val="400"/>
              </a:spcAft>
            </a:pPr>
            <a:r>
              <a:rPr sz="1200" b="0">
                <a:solidFill>
                  <a:srgbClr val="36454F"/>
                </a:solidFill>
                <a:latin typeface="Calibri"/>
              </a:rPr>
              <a:t>abap-clean-code-reviewer: findings, then fix</a:t>
            </a:r>
          </a:p>
        </p:txBody>
      </p:sp>
      <p:cxnSp>
        <p:nvCxnSpPr>
          <p:cNvPr id="27" name="Connector 30"/>
          <p:cNvCxnSpPr/>
          <p:nvPr/>
        </p:nvCxnSpPr>
        <p:spPr>
          <a:xfrm>
            <a:off x="7013448" y="1325880"/>
            <a:ext cx="192024" cy="0"/>
          </a:xfrm>
          <a:prstGeom prst="line">
            <a:avLst/>
          </a:prstGeom>
          <a:ln w="2540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31"/>
          <p:cNvSpPr txBox="1"/>
          <p:nvPr/>
        </p:nvSpPr>
        <p:spPr>
          <a:xfrm>
            <a:off x="7223760" y="1691639"/>
            <a:ext cx="1463040" cy="822960"/>
          </a:xfrm>
          <a:prstGeom prst="rect">
            <a:avLst/>
          </a:prstGeom>
          <a:noFill/>
        </p:spPr>
        <p:txBody>
          <a:bodyPr wrap="square" anchor="t">
            <a:spAutoFit/>
          </a:bodyPr>
          <a:lstStyle/>
          <a:p>
            <a:pPr algn="ctr">
              <a:spcAft>
                <a:spcPts val="400"/>
              </a:spcAft>
            </a:pPr>
            <a:r>
              <a:rPr sz="1200" b="0">
                <a:solidFill>
                  <a:srgbClr val="36454F"/>
                </a:solidFill>
                <a:latin typeface="Calibri"/>
              </a:rPr>
              <a:t>/pre-transport-check: go / no-go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Guardrails &amp; Responsibilities</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Text 4"/>
          <p:cNvSpPr txBox="1"/>
          <p:nvPr/>
        </p:nvSpPr>
        <p:spPr>
          <a:xfrm>
            <a:off x="640080" y="1097280"/>
            <a:ext cx="7863840" cy="347472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 The AI proposes; you decide</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All system writes need explicit confirmation</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Review still applies</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AI output goes through ATC, unit tests, code review</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No personal data in shared repo</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No credentials, users, passwords, system URLs</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Don't edit shared files locally</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Use local-* copies or PR</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$TMP is for experiments only</a:t>
            </a: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   Real work in transportable packages</a:t>
            </a:r>
            <a:endParaRPr lang="en-US" sz="1200" dirty="0"/>
          </a:p>
        </p:txBody>
      </p:sp>
      <p:sp>
        <p:nvSpPr>
          <p:cNvPr id="8"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19</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Getting Started Checklist</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640080" y="1097280"/>
            <a:ext cx="7863840" cy="3474720"/>
          </a:xfrm>
          <a:prstGeom prst="rect">
            <a:avLst/>
          </a:prstGeom>
          <a:noFill/>
          <a:ln/>
        </p:spPr>
        <p:txBody>
          <a:bodyPr wrap="square" rtlCol="0" anchor="t"/>
          <a:lstStyle/>
          <a:p>
            <a:pPr marL="0" indent="0">
              <a:buSzPct val="100000"/>
              <a:buNone/>
            </a:pPr>
            <a:r>
              <a:rPr lang="en-US" sz="1200" dirty="0">
                <a:solidFill>
                  <a:srgbClr val="36454F"/>
                </a:solidFill>
                <a:latin typeface="Calibri" pitchFamily="34" charset="0"/>
                <a:ea typeface="Calibri" pitchFamily="34" charset="-122"/>
                <a:cs typeface="Calibri" pitchFamily="34" charset="-120"/>
              </a:rPr>
              <a:t>☐ Fork the team repo and clone your fork</a:t>
            </a:r>
            <a:endParaRPr lang="en-US" sz="1200" dirty="0"/>
          </a:p>
          <a:p>
            <a:pPr marL="0" indent="0">
              <a:buSzPct val="100000"/>
              <a:buNone/>
            </a:pPr>
            <a:r>
              <a:rPr lang="en-US" sz="1200" dirty="0">
                <a:solidFill>
                  <a:srgbClr val="36454F"/>
                </a:solidFill>
                <a:latin typeface="Calibri" pitchFamily="34" charset="0"/>
                <a:ea typeface="Calibri" pitchFamily="34" charset="-122"/>
                <a:cs typeface="Calibri" pitchFamily="34" charset="-120"/>
              </a:rPr>
              <a:t>☐ git remote add upstream [team repo URL]</a:t>
            </a:r>
            <a:endParaRPr lang="en-US" sz="1200" dirty="0"/>
          </a:p>
          <a:p>
            <a:pPr marL="0" indent="0">
              <a:buSzPct val="100000"/>
              <a:buNone/>
            </a:pPr>
            <a:r>
              <a:rPr lang="en-US" sz="1200" dirty="0">
                <a:solidFill>
                  <a:srgbClr val="36454F"/>
                </a:solidFill>
                <a:latin typeface="Calibri" pitchFamily="34" charset="0"/>
                <a:ea typeface="Calibri" pitchFamily="34" charset="-122"/>
                <a:cs typeface="Calibri" pitchFamily="34" charset="-120"/>
              </a:rPr>
              <a:t>☐ Install SAP ABAP extension, connect to system, check ADT MCP Server is running</a:t>
            </a:r>
            <a:endParaRPr lang="en-US" sz="1200" dirty="0"/>
          </a:p>
          <a:p>
            <a:pPr marL="0" indent="0">
              <a:buSzPct val="100000"/>
              <a:buNone/>
            </a:pPr>
            <a:r>
              <a:rPr lang="en-US" sz="1200" dirty="0">
                <a:solidFill>
                  <a:srgbClr val="36454F"/>
                </a:solidFill>
                <a:latin typeface="Calibri" pitchFamily="34" charset="0"/>
                <a:ea typeface="Calibri" pitchFamily="34" charset="-122"/>
                <a:cs typeface="Calibri" pitchFamily="34" charset="-120"/>
              </a:rPr>
              <a:t>☐ In Copilot Chat, enable ADT tools in tools picker</a:t>
            </a:r>
            <a:endParaRPr lang="en-US" sz="1200" dirty="0"/>
          </a:p>
          <a:p>
            <a:pPr marL="0" indent="0">
              <a:buSzPct val="100000"/>
              <a:buNone/>
            </a:pPr>
            <a:r>
              <a:rPr lang="en-US" sz="1200" dirty="0">
                <a:solidFill>
                  <a:srgbClr val="36454F"/>
                </a:solidFill>
                <a:latin typeface="Calibri" pitchFamily="34" charset="0"/>
                <a:ea typeface="Calibri" pitchFamily="34" charset="-122"/>
                <a:cs typeface="Calibri" pitchFamily="34" charset="-120"/>
              </a:rPr>
              <a:t>☐ Run /bootstrap-system-context once</a:t>
            </a:r>
            <a:endParaRPr lang="en-US" sz="1200" dirty="0"/>
          </a:p>
          <a:p>
            <a:pPr marL="0" indent="0">
              <a:buSzPct val="100000"/>
              <a:buNone/>
            </a:pPr>
            <a:r>
              <a:rPr lang="en-US" sz="1200" dirty="0">
                <a:solidFill>
                  <a:srgbClr val="36454F"/>
                </a:solidFill>
                <a:latin typeface="Calibri" pitchFamily="34" charset="0"/>
                <a:ea typeface="Calibri" pitchFamily="34" charset="-122"/>
                <a:cs typeface="Calibri" pitchFamily="34" charset="-120"/>
              </a:rPr>
              <a:t>☐ Try /explain-abap on an object you know</a:t>
            </a:r>
            <a:endParaRPr lang="en-US" sz="1200" dirty="0"/>
          </a:p>
          <a:p>
            <a:pPr marL="0" indent="0">
              <a:buSzPct val="100000"/>
              <a:buNone/>
            </a:pPr>
            <a:r>
              <a:rPr lang="en-US" sz="1200" dirty="0">
                <a:solidFill>
                  <a:srgbClr val="36454F"/>
                </a:solidFill>
                <a:latin typeface="Calibri" pitchFamily="34" charset="0"/>
                <a:ea typeface="Calibri" pitchFamily="34" charset="-122"/>
                <a:cs typeface="Calibri" pitchFamily="34" charset="-120"/>
              </a:rPr>
              <a:t>☐ Sync weekly or when lead announces release</a:t>
            </a:r>
            <a:endParaRPr lang="en-US" sz="1200" dirty="0"/>
          </a:p>
          <a:p>
            <a:pPr marL="0" indent="0">
              <a:buSzPct val="100000"/>
              <a:buNone/>
            </a:pPr>
            <a:r>
              <a:rPr lang="en-US" sz="1200" dirty="0">
                <a:solidFill>
                  <a:srgbClr val="36454F"/>
                </a:solidFill>
                <a:latin typeface="Calibri" pitchFamily="34" charset="0"/>
                <a:ea typeface="Calibri" pitchFamily="34" charset="-122"/>
                <a:cs typeface="Calibri" pitchFamily="34" charset="-120"/>
              </a:rPr>
              <a:t>☐ Put experiments in local-* files; propose good ones via PR</a:t>
            </a:r>
            <a:endParaRPr lang="en-US" sz="1200" dirty="0"/>
          </a:p>
        </p:txBody>
      </p:sp>
      <p:sp>
        <p:nvSpPr>
          <p:cNvPr id="6"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20</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7955280" y="182880"/>
            <a:ext cx="1051560" cy="320040"/>
          </a:xfrm>
          <a:prstGeom prst="roundRect">
            <a:avLst>
              <a:gd name="adj" fmla="val 28571"/>
            </a:avLst>
          </a:prstGeom>
          <a:solidFill>
            <a:srgbClr val="FF6B6B"/>
          </a:solidFill>
          <a:ln/>
        </p:spPr>
        <p:txBody>
          <a:bodyPr/>
          <a:p/>
        </p:txBody>
      </p:sp>
      <p:sp>
        <p:nvSpPr>
          <p:cNvPr id="4" name="Text 1"/>
          <p:cNvSpPr txBox="1"/>
          <p:nvPr/>
        </p:nvSpPr>
        <p:spPr>
          <a:xfrm>
            <a:off x="7955280" y="182880"/>
            <a:ext cx="105156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MANAGER ONLY</a:t>
            </a:r>
            <a:endParaRPr lang="en-US" sz="8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Rollout &amp; Measurement</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737360"/>
        </p:xfrm>
        <a:graphic>
          <a:graphicData uri="http://schemas.openxmlformats.org/drawingml/2006/table">
            <a:tbl>
              <a:tblPr/>
              <a:tblGrid>
                <a:gridCol w="2057400"/>
                <a:gridCol w="2057400"/>
                <a:gridCol w="2057400"/>
                <a:gridCol w="2057400"/>
              </a:tblGrid>
              <a:tr h="347472">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Phase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What</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Success signal</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34747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1. Pilot</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Weeks 1–2 [adjust]</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2–3 devs on real tickets</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Setup works; feedback captured</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34747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2. Rollout</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Weeks 3–4 [adjust]</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Team session; everyone forks</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All synced; prompts in daily work</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34747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3. Steady</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Ongoing</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Lead publishes releases; devs sync</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Regular releases; dev PRs merged</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34747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4. Review</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~2 months</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Compare metrics before/after</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Measurable improvement</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bl>
          </a:graphicData>
        </a:graphic>
      </p:graphicFrame>
      <p:sp>
        <p:nvSpPr>
          <p:cNvPr id="8" name="Text 4"/>
          <p:cNvSpPr txBox="1"/>
          <p:nvPr/>
        </p:nvSpPr>
        <p:spPr>
          <a:xfrm>
            <a:off x="457200" y="320040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How we'll measure:</a:t>
            </a:r>
            <a:endParaRPr lang="en-US" sz="1200" dirty="0"/>
          </a:p>
        </p:txBody>
      </p:sp>
      <p:sp>
        <p:nvSpPr>
          <p:cNvPr id="9" name="Text 5"/>
          <p:cNvSpPr txBox="1"/>
          <p:nvPr/>
        </p:nvSpPr>
        <p:spPr>
          <a:xfrm>
            <a:off x="640080" y="3493008"/>
            <a:ext cx="7863840" cy="1188720"/>
          </a:xfrm>
          <a:prstGeom prst="rect">
            <a:avLst/>
          </a:prstGeom>
          <a:solidFill>
            <a:srgbClr val="FFF3CD"/>
          </a:solid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 Recurring review comments (naming, Clean Core, tests) — should decrease</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ATC findings per transport at pre-transport-check gate</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Time to scaffold standard object (RAP BO) and new joiner productivity</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Developer feedback and number of contributions to shared repo</a:t>
            </a:r>
            <a:endParaRPr lang="en-US" sz="1100" dirty="0"/>
          </a:p>
          <a:p>
            <a:pPr indent="0" marL="0">
              <a:buNone/>
            </a:pP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[Note: Add real pilot numbers when available, e.g. "RAP BO: ~3h → ~20min"]</a:t>
            </a:r>
            <a:endParaRPr lang="en-US" sz="1100" dirty="0"/>
          </a:p>
        </p:txBody>
      </p:sp>
      <p:sp>
        <p:nvSpPr>
          <p:cNvPr id="10"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21</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7955280" y="182880"/>
            <a:ext cx="1051560" cy="320040"/>
          </a:xfrm>
          <a:prstGeom prst="roundRect">
            <a:avLst>
              <a:gd name="adj" fmla="val 28571"/>
            </a:avLst>
          </a:prstGeom>
          <a:solidFill>
            <a:srgbClr val="FF6B6B"/>
          </a:solidFill>
          <a:ln/>
        </p:spPr>
        <p:txBody>
          <a:bodyPr/>
          <a:p/>
        </p:txBody>
      </p:sp>
      <p:sp>
        <p:nvSpPr>
          <p:cNvPr id="4" name="Text 1"/>
          <p:cNvSpPr txBox="1"/>
          <p:nvPr/>
        </p:nvSpPr>
        <p:spPr>
          <a:xfrm>
            <a:off x="7955280" y="182880"/>
            <a:ext cx="105156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MANAGER ONLY</a:t>
            </a:r>
            <a:endParaRPr lang="en-US" sz="8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Governance &amp; Risks</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Text 4"/>
          <p:cNvSpPr txBox="1"/>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Governance model:</a:t>
            </a:r>
            <a:endParaRPr lang="en-US" sz="1200" dirty="0"/>
          </a:p>
        </p:txBody>
      </p:sp>
      <p:sp>
        <p:nvSpPr>
          <p:cNvPr id="8" name="Text 5"/>
          <p:cNvSpPr txBox="1"/>
          <p:nvPr/>
        </p:nvSpPr>
        <p:spPr>
          <a:xfrm>
            <a:off x="640080" y="1325880"/>
            <a:ext cx="7863840" cy="868680"/>
          </a:xfrm>
          <a:prstGeom prst="rect">
            <a:avLst/>
          </a:prstGeom>
          <a:solidFill>
            <a:srgbClr val="FFF3CD"/>
          </a:solid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 Owner: Lead developer (me), with backup [Name the backup]</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Change process: Every change → PR review against checklist</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Releases: Tagged versions (v1.0, v1.1…) with release notes</a:t>
            </a:r>
            <a:endParaRPr lang="en-US" sz="1100" dirty="0"/>
          </a:p>
          <a:p>
            <a:pPr indent="0" marL="0">
              <a:buNone/>
            </a:pPr>
            <a:r>
              <a:rPr lang="en-US" sz="1200" dirty="0">
                <a:solidFill>
                  <a:srgbClr val="36454F"/>
                </a:solidFill>
                <a:latin typeface="Calibri" pitchFamily="34" charset="0"/>
                <a:ea typeface="Calibri" pitchFamily="34" charset="-122"/>
                <a:cs typeface="Calibri" pitchFamily="34" charset="-120"/>
              </a:rPr>
              <a:t>• Hosting: [Decide: personal account → company GitHub/GitLab?]</a:t>
            </a:r>
            <a:endParaRPr lang="en-US" sz="1100" dirty="0"/>
          </a:p>
        </p:txBody>
      </p:sp>
      <p:sp>
        <p:nvSpPr>
          <p:cNvPr id="9" name="Text 6"/>
          <p:cNvSpPr txBox="1"/>
          <p:nvPr/>
        </p:nvSpPr>
        <p:spPr>
          <a:xfrm>
            <a:off x="457200" y="2331720"/>
            <a:ext cx="8229600" cy="22860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Risks &amp; mitigations: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8229600" cy="1280160"/>
        </p:xfrm>
        <a:graphic>
          <a:graphicData uri="http://schemas.openxmlformats.org/drawingml/2006/table">
            <a:tbl>
              <a:tblPr/>
              <a:tblGrid>
                <a:gridCol w="4114800"/>
                <a:gridCol w="4114800"/>
              </a:tblGrid>
              <a:tr h="210312">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1031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Wrong/non-compliant code</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Rules at generation; ATC, review mandatory</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1031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Unintended SAP changes</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Confirmation needed; reviewers read-only</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1031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Sensitive data leak</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[Confirm Copilot data policy with IT/security]</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1031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Developer drift</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Fork/sync model; personal in local-*</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r h="210312">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Dependence on one person</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Everything documented; add backup</a:t>
                      </a:r>
                      <a:endParaRPr lang="en-US" sz="1000" dirty="0">
                        <a:latin typeface="Calibri" charset="0"/>
                        <a:ea typeface="Calibri" charset="0"/>
                        <a:cs typeface="Calibri" charset="0"/>
                      </a:endParaRPr>
                    </a:p>
                  </a:txBody>
                  <a:tcPr marL="91440" marR="91440" marT="45720" marB="45720">
                    <a:lnL w="0" cap="flat" cmpd="sng" algn="ctr">
                      <a:noFill/>
                    </a:lnL>
                    <a:lnR w="0" cap="flat" cmpd="sng" algn="ctr">
                      <a:noFill/>
                    </a:lnR>
                    <a:lnT w="12700" cap="flat" cmpd="sng" algn="ctr">
                      <a:solidFill>
                        <a:srgbClr val="1E2761"/>
                      </a:solidFill>
                      <a:prstDash val="solid"/>
                      <a:round/>
                      <a:headEnd type="none" w="med" len="med"/>
                      <a:tailEnd type="none" w="med" len="med"/>
                    </a:lnT>
                    <a:lnB w="0" cap="flat" cmpd="sng" algn="ctr">
                      <a:noFill/>
                    </a:lnB>
                    <a:solidFill>
                      <a:srgbClr val="F2F2F2"/>
                    </a:solidFill>
                  </a:tcPr>
                </a:tc>
              </a:tr>
            </a:tbl>
          </a:graphicData>
        </a:graphic>
      </p:graphicFrame>
      <p:sp>
        <p:nvSpPr>
          <p:cNvPr id="11"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22</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Shape 0"/>
          <p:cNvSpPr/>
          <p:nvPr/>
        </p:nvSpPr>
        <p:spPr>
          <a:xfrm>
            <a:off x="7955280" y="182880"/>
            <a:ext cx="1051560" cy="320040"/>
          </a:xfrm>
          <a:prstGeom prst="roundRect">
            <a:avLst>
              <a:gd name="adj" fmla="val 28571"/>
            </a:avLst>
          </a:prstGeom>
          <a:solidFill>
            <a:srgbClr val="FF6B6B"/>
          </a:solidFill>
          <a:ln/>
        </p:spPr>
        <p:txBody>
          <a:bodyPr/>
          <a:p/>
        </p:txBody>
      </p:sp>
      <p:sp>
        <p:nvSpPr>
          <p:cNvPr id="4" name="Text 1"/>
          <p:cNvSpPr txBox="1"/>
          <p:nvPr/>
        </p:nvSpPr>
        <p:spPr>
          <a:xfrm>
            <a:off x="7955280" y="182880"/>
            <a:ext cx="1051560" cy="32004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MANAGER ONLY</a:t>
            </a:r>
            <a:endParaRPr lang="en-US" sz="8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What I Need From You</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22</a:t>
            </a:fld>
            <a:endParaRPr lang="en-US"/>
          </a:p>
        </p:txBody>
      </p:sp>
      <p:sp>
        <p:nvSpPr>
          <p:cNvPr id="8" name="TextBox 13"/>
          <p:cNvSpPr txBox="1"/>
          <p:nvPr/>
        </p:nvSpPr>
        <p:spPr>
          <a:xfrm>
            <a:off x="731520" y="1188720"/>
            <a:ext cx="7680960" cy="3200400"/>
          </a:xfrm>
          <a:prstGeom prst="rect">
            <a:avLst/>
          </a:prstGeom>
          <a:noFill/>
        </p:spPr>
        <p:txBody>
          <a:bodyPr wrap="square" anchor="t">
            <a:spAutoFit/>
          </a:bodyPr>
          <a:lstStyle/>
          <a:p>
            <a:pPr>
              <a:spcAft>
                <a:spcPts val="400"/>
              </a:spcAft>
            </a:pPr>
            <a:r>
              <a:rPr sz="2000" b="1">
                <a:solidFill>
                  <a:srgbClr val="1E2761"/>
                </a:solidFill>
                <a:latin typeface="Calibri"/>
              </a:rPr>
              <a:t>1.  </a:t>
            </a:r>
            <a:r>
              <a:rPr sz="2000" b="0">
                <a:solidFill>
                  <a:srgbClr val="1E2761"/>
                </a:solidFill>
                <a:latin typeface="Calibri"/>
              </a:rPr>
              <a:t>Approval to roll out to developer team</a:t>
            </a:r>
            <a:r>
              <a:rPr sz="2000" b="0">
                <a:solidFill>
                  <a:srgbClr val="36454F"/>
                </a:solidFill>
                <a:latin typeface="Calibri"/>
              </a:rPr>
              <a:t/>
            </a:r>
          </a:p>
          <a:p>
            <a:pPr>
              <a:spcAft>
                <a:spcPts val="400"/>
              </a:spcAft>
            </a:pPr>
            <a:r>
              <a:rPr sz="2000" b="1">
                <a:solidFill>
                  <a:srgbClr val="1E2761"/>
                </a:solidFill>
                <a:latin typeface="Calibri"/>
              </a:rPr>
              <a:t>2.  </a:t>
            </a:r>
            <a:r>
              <a:rPr sz="2000" b="1">
                <a:solidFill>
                  <a:srgbClr val="1E2761"/>
                </a:solidFill>
                <a:latin typeface="Calibri"/>
              </a:rPr>
              <a:t>Time:</a:t>
            </a:r>
            <a:r>
              <a:rPr sz="2000" b="0">
                <a:solidFill>
                  <a:srgbClr val="36454F"/>
                </a:solidFill>
                <a:latin typeface="Calibri"/>
              </a:rPr>
              <a:t> 1-hour session + ~2h/sprint maintain</a:t>
            </a:r>
          </a:p>
          <a:p>
            <a:pPr>
              <a:spcAft>
                <a:spcPts val="400"/>
              </a:spcAft>
            </a:pPr>
            <a:r>
              <a:rPr sz="2000" b="1">
                <a:solidFill>
                  <a:srgbClr val="1E2761"/>
                </a:solidFill>
                <a:latin typeface="Calibri"/>
              </a:rPr>
              <a:t>3.  </a:t>
            </a:r>
            <a:r>
              <a:rPr sz="2000" b="0">
                <a:solidFill>
                  <a:srgbClr val="1E2761"/>
                </a:solidFill>
                <a:latin typeface="Calibri"/>
              </a:rPr>
              <a:t>Hosting decision</a:t>
            </a:r>
            <a:r>
              <a:rPr sz="2000" b="0">
                <a:solidFill>
                  <a:srgbClr val="36454F"/>
                </a:solidFill>
                <a:latin typeface="Calibri"/>
              </a:rPr>
              <a:t/>
            </a:r>
          </a:p>
          <a:p>
            <a:pPr>
              <a:spcAft>
                <a:spcPts val="400"/>
              </a:spcAft>
            </a:pPr>
            <a:r>
              <a:rPr sz="2000" b="1">
                <a:solidFill>
                  <a:srgbClr val="1E2761"/>
                </a:solidFill>
                <a:latin typeface="Calibri"/>
              </a:rPr>
              <a:t>4.  </a:t>
            </a:r>
            <a:r>
              <a:rPr sz="2000" b="0">
                <a:solidFill>
                  <a:srgbClr val="1E2761"/>
                </a:solidFill>
                <a:latin typeface="Calibri"/>
              </a:rPr>
              <a:t>IT/security confirmation on Copilot MCP policy</a:t>
            </a:r>
            <a:r>
              <a:rPr sz="2000" b="0">
                <a:solidFill>
                  <a:srgbClr val="36454F"/>
                </a:solidFill>
                <a:latin typeface="Calibri"/>
              </a:rPr>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2" name=""/>
        <p:cNvGrpSpPr/>
        <p:nvPr/>
      </p:nvGrpSpPr>
      <p:grpSpPr>
        <a:xfrm>
          <a:off x="0" y="0"/>
          <a:ext cx="0" cy="0"/>
          <a:chOff x="0" y="0"/>
          <a:chExt cx="0" cy="0"/>
        </a:xfrm>
      </p:grpSpPr>
      <p:sp>
        <p:nvSpPr>
          <p:cNvPr id="3" name="Shape 0"/>
          <p:cNvSpPr/>
          <p:nvPr/>
        </p:nvSpPr>
        <p:spPr>
          <a:xfrm>
            <a:off x="8229600" y="182880"/>
            <a:ext cx="777240" cy="320040"/>
          </a:xfrm>
          <a:prstGeom prst="roundRect">
            <a:avLst>
              <a:gd name="adj" fmla="val 28571"/>
            </a:avLst>
          </a:prstGeom>
          <a:solidFill>
            <a:srgbClr val="1E2761"/>
          </a:solidFill>
          <a:ln/>
        </p:spPr>
        <p:txBody>
          <a:bodyPr/>
          <a:p/>
        </p:txBody>
      </p:sp>
      <p:sp>
        <p:nvSpPr>
          <p:cNvPr id="4" name="Text 1"/>
          <p:cNvSpPr txBox="1"/>
          <p:nvPr/>
        </p:nvSpPr>
        <p:spPr>
          <a:xfrm>
            <a:off x="8229600" y="182880"/>
            <a:ext cx="77724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5" name="Text 2"/>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Summary: Five Key Ideas</a:t>
            </a:r>
            <a:endParaRPr lang="en-US" sz="4000" dirty="0"/>
          </a:p>
        </p:txBody>
      </p:sp>
      <p:sp>
        <p:nvSpPr>
          <p:cNvPr id="6" name="Shape 3"/>
          <p:cNvSpPr/>
          <p:nvPr/>
        </p:nvSpPr>
        <p:spPr>
          <a:xfrm>
            <a:off x="457200" y="731520"/>
            <a:ext cx="8229600" cy="0"/>
          </a:xfrm>
          <a:prstGeom prst="line">
            <a:avLst/>
          </a:prstGeom>
          <a:noFill/>
          <a:ln w="25400">
            <a:solidFill>
              <a:srgbClr val="1E2761"/>
            </a:solidFill>
            <a:prstDash val="solid"/>
          </a:ln>
        </p:spPr>
        <p:txBody>
          <a:bodyPr/>
          <a:p/>
        </p:txBody>
      </p:sp>
      <p:sp>
        <p:nvSpPr>
          <p:cNvPr id="7" name="Text 4"/>
          <p:cNvSpPr txBox="1"/>
          <p:nvPr/>
        </p:nvSpPr>
        <p:spPr>
          <a:xfrm>
            <a:off x="640080" y="1097280"/>
            <a:ext cx="7863840" cy="347472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1. Guidelines as code: project rules live in Git and are applied automatically</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2. Fork once, sync always: leads publish; everyone receives; personal files untouched</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3. A clear structure: instructions → prompts → skills → agents, with reference and templates</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4. Grounded and safe: MCP connects to the real system; writes need your confirmation</a:t>
            </a:r>
            <a:endParaRPr lang="en-US" sz="1200" dirty="0"/>
          </a:p>
          <a:p>
            <a:pPr indent="0" marL="0">
              <a:buNone/>
            </a:pPr>
            <a:endParaRPr lang="en-US" sz="1200" dirty="0"/>
          </a:p>
          <a:p>
            <a:pPr indent="0" marL="0">
              <a:buNone/>
            </a:pPr>
            <a:r>
              <a:rPr lang="en-US" sz="1200" dirty="0">
                <a:solidFill>
                  <a:srgbClr val="36454F"/>
                </a:solidFill>
                <a:latin typeface="Calibri" pitchFamily="34" charset="0"/>
                <a:ea typeface="Calibri" pitchFamily="34" charset="-122"/>
                <a:cs typeface="Calibri" pitchFamily="34" charset="-120"/>
              </a:rPr>
              <a:t>5. Reusable and compounding: every improvement reaches the whole team</a:t>
            </a:r>
            <a:endParaRPr lang="en-US" sz="1200" dirty="0"/>
          </a:p>
        </p:txBody>
      </p:sp>
      <p:sp>
        <p:nvSpPr>
          <p:cNvPr id="8"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23</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457200" y="228600"/>
            <a:ext cx="7589520" cy="457200"/>
          </a:xfrm>
          <a:prstGeom prst="rect">
            <a:avLst/>
          </a:prstGeom>
          <a:noFill/>
          <a:ln/>
        </p:spPr>
        <p:txBody>
          <a:bodyPr wrap="square" rtlCol="0" anchor="b"/>
          <a:lstStyle/>
          <a:p>
            <a:pPr indent="0" marL="0">
              <a:buNone/>
            </a:pPr>
            <a:r>
              <a:rPr lang="en-US" sz="2800" b="1" dirty="0">
                <a:solidFill>
                  <a:srgbClr val="1E2761"/>
                </a:solidFill>
                <a:latin typeface="Calibri" pitchFamily="34" charset="0"/>
                <a:ea typeface="Calibri" pitchFamily="34" charset="-122"/>
                <a:cs typeface="Calibri" pitchFamily="34" charset="-120"/>
              </a:rPr>
              <a:t>Manager Cut: Slide Numbers for Custom Show</a:t>
            </a:r>
            <a:endParaRPr lang="en-US" sz="4000" dirty="0"/>
          </a:p>
        </p:txBody>
      </p:sp>
      <p:sp>
        <p:nvSpPr>
          <p:cNvPr id="4" name="Shape 1"/>
          <p:cNvSpPr/>
          <p:nvPr/>
        </p:nvSpPr>
        <p:spPr>
          <a:xfrm>
            <a:off x="457200" y="731520"/>
            <a:ext cx="8229600" cy="0"/>
          </a:xfrm>
          <a:prstGeom prst="line">
            <a:avLst/>
          </a:prstGeom>
          <a:noFill/>
          <a:ln w="25400">
            <a:solidFill>
              <a:srgbClr val="1E2761"/>
            </a:solidFill>
            <a:prstDash val="solid"/>
          </a:ln>
        </p:spPr>
        <p:txBody>
          <a:bodyPr/>
          <a:p/>
        </p:txBody>
      </p:sp>
      <p:sp>
        <p:nvSpPr>
          <p:cNvPr id="5" name="Text 2"/>
          <p:cNvSpPr txBox="1"/>
          <p:nvPr/>
        </p:nvSpPr>
        <p:spPr>
          <a:xfrm>
            <a:off x="640080" y="914400"/>
            <a:ext cx="7863840" cy="1280160"/>
          </a:xfrm>
          <a:prstGeom prst="rect">
            <a:avLst/>
          </a:prstGeom>
          <a:noFill/>
          <a:ln/>
        </p:spPr>
        <p:txBody>
          <a:bodyPr wrap="square" rtlCol="0" anchor="t"/>
          <a:lstStyle/>
          <a:p>
            <a:pPr indent="0" marL="0">
              <a:buNone/>
            </a:pPr>
            <a:r>
              <a:rPr lang="en-US" sz="1200" dirty="0" b="0">
                <a:solidFill>
                  <a:srgbClr val="36454F"/>
                </a:solidFill>
                <a:latin typeface="Calibri" pitchFamily="34" charset="0"/>
                <a:ea typeface="Calibri" pitchFamily="34" charset="-122"/>
                <a:cs typeface="Calibri" pitchFamily="34" charset="-120"/>
              </a:rPr>
              <a:t>Use this list to build a custom show in PowerPoint (Slide Show &gt; Custom Slide Show).</a:t>
            </a:r>
            <a:endParaRPr lang="en-US" sz="1200" dirty="0"/>
          </a:p>
          <a:p>
            <a:r>
              <a:rPr sz="1200" b="0">
                <a:solidFill>
                  <a:srgbClr val="36454F"/>
                </a:solidFill>
                <a:latin typeface="Calibri"/>
              </a:rPr>
              <a:t/>
            </a:r>
          </a:p>
          <a:p>
            <a:r>
              <a:rPr sz="1200" b="1">
                <a:solidFill>
                  <a:srgbClr val="1E2761"/>
                </a:solidFill>
                <a:latin typeface="Calibri"/>
              </a:rPr>
              <a:t>Manager custom show: 1–7, 10–12, 21, 24–26, 28–31, 33</a:t>
            </a:r>
          </a:p>
          <a:p>
            <a:r>
              <a:rPr sz="1200" b="0">
                <a:solidFill>
                  <a:srgbClr val="36454F"/>
                </a:solidFill>
                <a:latin typeface="Calibri"/>
              </a:rPr>
              <a:t/>
            </a:r>
          </a:p>
          <a:p>
            <a:r>
              <a:rPr sz="1200" b="0">
                <a:solidFill>
                  <a:srgbClr val="36454F"/>
                </a:solidFill>
                <a:latin typeface="Calibri"/>
              </a:rPr>
              <a:t>Manager-only slides (hide for developers): 3, 28, 29, 30</a:t>
            </a:r>
          </a:p>
          <a:p>
            <a:r>
              <a:rPr sz="1200" b="0">
                <a:solidFill>
                  <a:srgbClr val="36454F"/>
                </a:solidFill>
                <a:latin typeface="Calibri"/>
              </a:rPr>
              <a:t/>
            </a:r>
          </a:p>
        </p:txBody>
      </p:sp>
      <p:sp>
        <p:nvSpPr>
          <p:cNvPr id="6"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lvl1pPr>
          </a:lstStyle>
          <a:p>
            <a:pPr algn="l"/>
            <a:fld id="{F7021451-1387-4CA6-816F-3879F97B5CBC}" type="slidenum">
              <a:rPr b="0" lang="en-US" sz="1000">
                <a:solidFill>
                  <a:srgbClr val="8A8F98"/>
                </a:solidFill>
              </a:rPr>
              <a:t>24</a:t>
            </a:fld>
            <a:endParaRPr lang="en-US"/>
          </a:p>
        </p:txBody>
      </p:sp>
      <p:sp>
        <p:nvSpPr>
          <p:cNvPr id="7" name="TextBox 6"/>
          <p:cNvSpPr txBox="1"/>
          <p:nvPr/>
        </p:nvSpPr>
        <p:spPr>
          <a:xfrm>
            <a:off x="457200" y="2240280"/>
            <a:ext cx="4023360" cy="2286000"/>
          </a:xfrm>
          <a:prstGeom prst="rect">
            <a:avLst/>
          </a:prstGeom>
          <a:noFill/>
        </p:spPr>
        <p:txBody>
          <a:bodyPr wrap="square" anchor="t">
            <a:spAutoFit/>
          </a:bodyPr>
          <a:lstStyle/>
          <a:p>
            <a:pPr>
              <a:spcAft>
                <a:spcPts val="400"/>
              </a:spcAft>
            </a:pPr>
            <a:r>
              <a:rPr sz="1200" b="0">
                <a:solidFill>
                  <a:srgbClr val="36454F"/>
                </a:solidFill>
                <a:latin typeface="Calibri"/>
              </a:rPr>
              <a:t>1. Title</a:t>
            </a:r>
          </a:p>
          <a:p>
            <a:pPr>
              <a:spcAft>
                <a:spcPts val="400"/>
              </a:spcAft>
            </a:pPr>
            <a:r>
              <a:rPr sz="1200" b="0">
                <a:solidFill>
                  <a:srgbClr val="36454F"/>
                </a:solidFill>
                <a:latin typeface="Calibri"/>
              </a:rPr>
              <a:t>2. Agenda &amp; Audience</a:t>
            </a:r>
          </a:p>
          <a:p>
            <a:pPr>
              <a:spcAft>
                <a:spcPts val="400"/>
              </a:spcAft>
            </a:pPr>
            <a:r>
              <a:rPr sz="1200" b="0">
                <a:solidFill>
                  <a:srgbClr val="36454F"/>
                </a:solidFill>
                <a:latin typeface="Calibri"/>
              </a:rPr>
              <a:t>3. Executive Summary for Technical Managers  (manager only)</a:t>
            </a:r>
          </a:p>
          <a:p>
            <a:pPr>
              <a:spcAft>
                <a:spcPts val="400"/>
              </a:spcAft>
            </a:pPr>
            <a:r>
              <a:rPr sz="1200" b="0">
                <a:solidFill>
                  <a:srgbClr val="36454F"/>
                </a:solidFill>
                <a:latin typeface="Calibri"/>
              </a:rPr>
              <a:t>4. The Problem We Are Solving</a:t>
            </a:r>
          </a:p>
          <a:p>
            <a:pPr>
              <a:spcAft>
                <a:spcPts val="400"/>
              </a:spcAft>
            </a:pPr>
            <a:r>
              <a:rPr sz="1200" b="0">
                <a:solidFill>
                  <a:srgbClr val="36454F"/>
                </a:solidFill>
                <a:latin typeface="Calibri"/>
              </a:rPr>
              <a:t>5. The Approach in One Sentence</a:t>
            </a:r>
          </a:p>
          <a:p>
            <a:pPr>
              <a:spcAft>
                <a:spcPts val="400"/>
              </a:spcAft>
            </a:pPr>
            <a:r>
              <a:rPr sz="1200" b="0">
                <a:solidFill>
                  <a:srgbClr val="36454F"/>
                </a:solidFill>
                <a:latin typeface="Calibri"/>
              </a:rPr>
              <a:t>6. How Guidelines Are Enforced</a:t>
            </a:r>
          </a:p>
          <a:p>
            <a:pPr>
              <a:spcAft>
                <a:spcPts val="400"/>
              </a:spcAft>
            </a:pPr>
            <a:r>
              <a:rPr sz="1200" b="0">
                <a:solidFill>
                  <a:srgbClr val="36454F"/>
                </a:solidFill>
                <a:latin typeface="Calibri"/>
              </a:rPr>
              <a:t>7. Fork and Sync: How Updates Reach You</a:t>
            </a:r>
          </a:p>
          <a:p>
            <a:pPr>
              <a:spcAft>
                <a:spcPts val="400"/>
              </a:spcAft>
            </a:pPr>
            <a:r>
              <a:rPr sz="1200" b="0">
                <a:solidFill>
                  <a:srgbClr val="36454F"/>
                </a:solidFill>
                <a:latin typeface="Calibri"/>
              </a:rPr>
              <a:t>10. Repository Structure</a:t>
            </a:r>
          </a:p>
          <a:p>
            <a:pPr>
              <a:spcAft>
                <a:spcPts val="400"/>
              </a:spcAft>
            </a:pPr>
            <a:r>
              <a:rPr sz="1200" b="0">
                <a:solidFill>
                  <a:srgbClr val="36454F"/>
                </a:solidFill>
                <a:latin typeface="Calibri"/>
              </a:rPr>
              <a:t>11. How the Workspace is Organised (Overview)</a:t>
            </a:r>
          </a:p>
          <a:p>
            <a:pPr>
              <a:spcAft>
                <a:spcPts val="400"/>
              </a:spcAft>
            </a:pPr>
            <a:r>
              <a:rPr sz="1200" b="0">
                <a:solidFill>
                  <a:srgbClr val="36454F"/>
                </a:solidFill>
                <a:latin typeface="Calibri"/>
              </a:rPr>
              <a:t>12. Four Building Blocks at a Glance</a:t>
            </a:r>
          </a:p>
        </p:txBody>
      </p:sp>
      <p:sp>
        <p:nvSpPr>
          <p:cNvPr id="8" name="TextBox 7"/>
          <p:cNvSpPr txBox="1"/>
          <p:nvPr/>
        </p:nvSpPr>
        <p:spPr>
          <a:xfrm>
            <a:off x="4663440" y="2240280"/>
            <a:ext cx="4023360" cy="2286000"/>
          </a:xfrm>
          <a:prstGeom prst="rect">
            <a:avLst/>
          </a:prstGeom>
          <a:noFill/>
        </p:spPr>
        <p:txBody>
          <a:bodyPr wrap="square" anchor="t">
            <a:spAutoFit/>
          </a:bodyPr>
          <a:lstStyle/>
          <a:p>
            <a:pPr>
              <a:spcAft>
                <a:spcPts val="400"/>
              </a:spcAft>
            </a:pPr>
            <a:r>
              <a:rPr sz="1200" b="0">
                <a:solidFill>
                  <a:srgbClr val="36454F"/>
                </a:solidFill>
                <a:latin typeface="Calibri"/>
              </a:rPr>
              <a:t>21. The Theory: Why This Works (Manager View)</a:t>
            </a:r>
          </a:p>
          <a:p>
            <a:pPr>
              <a:spcAft>
                <a:spcPts val="400"/>
              </a:spcAft>
            </a:pPr>
            <a:r>
              <a:rPr sz="1200" b="0">
                <a:solidFill>
                  <a:srgbClr val="36454F"/>
                </a:solidFill>
                <a:latin typeface="Calibri"/>
              </a:rPr>
              <a:t>24. Day-to-Day: Where It Saves Time</a:t>
            </a:r>
          </a:p>
          <a:p>
            <a:pPr>
              <a:spcAft>
                <a:spcPts val="400"/>
              </a:spcAft>
            </a:pPr>
            <a:r>
              <a:rPr sz="1200" b="0">
                <a:solidFill>
                  <a:srgbClr val="36454F"/>
                </a:solidFill>
                <a:latin typeface="Calibri"/>
              </a:rPr>
              <a:t>25. A Typical Feature Flow</a:t>
            </a:r>
          </a:p>
          <a:p>
            <a:pPr>
              <a:spcAft>
                <a:spcPts val="400"/>
              </a:spcAft>
            </a:pPr>
            <a:r>
              <a:rPr sz="1200" b="0">
                <a:solidFill>
                  <a:srgbClr val="36454F"/>
                </a:solidFill>
                <a:latin typeface="Calibri"/>
              </a:rPr>
              <a:t>26. Guardrails &amp; Responsibilities</a:t>
            </a:r>
          </a:p>
          <a:p>
            <a:pPr>
              <a:spcAft>
                <a:spcPts val="400"/>
              </a:spcAft>
            </a:pPr>
            <a:r>
              <a:rPr sz="1200" b="0">
                <a:solidFill>
                  <a:srgbClr val="36454F"/>
                </a:solidFill>
                <a:latin typeface="Calibri"/>
              </a:rPr>
              <a:t>28. Rollout &amp; Measurement  (manager only)</a:t>
            </a:r>
          </a:p>
          <a:p>
            <a:pPr>
              <a:spcAft>
                <a:spcPts val="400"/>
              </a:spcAft>
            </a:pPr>
            <a:r>
              <a:rPr sz="1200" b="0">
                <a:solidFill>
                  <a:srgbClr val="36454F"/>
                </a:solidFill>
                <a:latin typeface="Calibri"/>
              </a:rPr>
              <a:t>29. Governance &amp; Risks  (manager only)</a:t>
            </a:r>
          </a:p>
          <a:p>
            <a:pPr>
              <a:spcAft>
                <a:spcPts val="400"/>
              </a:spcAft>
            </a:pPr>
            <a:r>
              <a:rPr sz="1200" b="0">
                <a:solidFill>
                  <a:srgbClr val="36454F"/>
                </a:solidFill>
                <a:latin typeface="Calibri"/>
              </a:rPr>
              <a:t>30. What I Need From You  (manager only)</a:t>
            </a:r>
          </a:p>
          <a:p>
            <a:pPr>
              <a:spcAft>
                <a:spcPts val="400"/>
              </a:spcAft>
            </a:pPr>
            <a:r>
              <a:rPr sz="1200" b="0">
                <a:solidFill>
                  <a:srgbClr val="36454F"/>
                </a:solidFill>
                <a:latin typeface="Calibri"/>
              </a:rPr>
              <a:t>31. Summary: Five Key Ideas</a:t>
            </a:r>
          </a:p>
          <a:p>
            <a:pPr>
              <a:spcAft>
                <a:spcPts val="400"/>
              </a:spcAft>
            </a:pPr>
            <a:r>
              <a:rPr sz="1200" b="0">
                <a:solidFill>
                  <a:srgbClr val="36454F"/>
                </a:solidFill>
                <a:latin typeface="Calibri"/>
              </a:rPr>
              <a:t>33. Q&amp;A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2" name=""/>
        <p:cNvGrpSpPr/>
        <p:nvPr/>
      </p:nvGrpSpPr>
      <p:grpSpPr>
        <a:xfrm>
          <a:off x="0" y="0"/>
          <a:ext cx="0" cy="0"/>
          <a:chOff x="0" y="0"/>
          <a:chExt cx="0" cy="0"/>
        </a:xfrm>
      </p:grpSpPr>
      <p:sp>
        <p:nvSpPr>
          <p:cNvPr id="3" name="Text 0"/>
          <p:cNvSpPr txBox="1"/>
          <p:nvPr/>
        </p:nvSpPr>
        <p:spPr>
          <a:xfrm>
            <a:off x="457200" y="2103120"/>
            <a:ext cx="8229600" cy="914400"/>
          </a:xfrm>
          <a:prstGeom prst="rect">
            <a:avLst/>
          </a:prstGeom>
          <a:noFill/>
          <a:ln/>
        </p:spPr>
        <p:txBody>
          <a:bodyPr wrap="square" rtlCol="0" anchor="t"/>
          <a:lstStyle/>
          <a:p>
            <a:pPr algn="ctr" indent="0" marL="0">
              <a:buNone/>
            </a:pPr>
            <a:r>
              <a:rPr lang="en-US" sz="5400" b="1" dirty="0">
                <a:solidFill>
                  <a:srgbClr val="FFFFFF"/>
                </a:solidFill>
                <a:latin typeface="Calibri" pitchFamily="34" charset="0"/>
                <a:ea typeface="Calibri" pitchFamily="34" charset="-122"/>
                <a:cs typeface="Calibri" pitchFamily="34" charset="-120"/>
              </a:rPr>
              <a:t>Questions &amp; Answers</a:t>
            </a:r>
            <a:endParaRPr lang="en-US" sz="5400" dirty="0"/>
          </a:p>
        </p:txBody>
      </p:sp>
      <p:sp>
        <p:nvSpPr>
          <p:cNvPr id="4" name="Slide Number Placeholder 0"/>
          <p:cNvSpPr>
            <a:spLocks noGrp="1"/>
          </p:cNvSpPr>
          <p:nvPr>
            <p:ph type="sldNum" sz="quarter" idx="4294967295"/>
          </p:nvPr>
        </p:nvSpPr>
        <p:spPr>
          <a:xfrm>
            <a:off x="45720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2F2F2"/>
                </a:solidFill>
              </a:defRPr>
            </a:lvl1pPr>
          </a:lstStyle>
          <a:p>
            <a:pPr algn="l"/>
            <a:fld id="{F7021451-1387-4CA6-816F-3879F97B5CBC}" type="slidenum">
              <a:rPr b="0" lang="en-US" sz="1000">
                <a:solidFill>
                  <a:srgbClr val="8A8F98"/>
                </a:solidFill>
              </a:rPr>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2026-09-27T20:37:29Z</dcterms:created>
  <dcterms:modified xsi:type="dcterms:W3CDTF">2026-09-27T20:37:29Z</dcterms:modified>
</cp:coreProperties>
</file>